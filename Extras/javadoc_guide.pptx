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B18F7D1-A26B-450F-8781-507495F5D4B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Instructor Notes: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Welcome students to the session on Javadoc Essentials. This deck is a part of the Fidelity LEAP Programme technical documentation series.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Core Objectives of this Lesson: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1. Understand the difference between standard development comments and specification-grade Javadocs.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2. Master structural comment delimiters and formatting rules.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3. Learn standard block and inline tags.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4. Automate the documentation build process using the Maven Javadoc plugin.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D9F6F2-99FC-4D71-B27D-70059DE1DCA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Instructor Notes - Slide 2 (Structure &amp; Delimiters):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Emphasize that Javadoc comments are processed by the JDK javadoc compiler tool [136, 199].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Point out the subtle difference in syntax: Standard comments use /*, whereas Javadocs must use /** [136, 199].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the First Sentence Rule: Javadoc extracts the first sentence of each comment to place in the member, class, or package summary table [139, 142]. If they write a period followed by a space or line break (e.g., 'This is a simulation of Prof. Knuth's computer'), Javadoc will mistakenly chop it off at the period unless they escape it with an HTML meta-character [143].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Direct students to the code block on the left and show the standard order: Description first, followed by an empty line, then block tags [139].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37FFB3-6622-4EFA-B8BE-FEE543E816C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Instructor Notes - Slide 3 (Effective Descriptions):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that a great API document has an engineering-first audience [127].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Emphasize why we AVOID second person imperative verbs. 'Get the label' sounds like an command to a dog or a developer [147, 148]. 'Gets the label' is a declarative description of what the method guarantees as a contract [147, 148].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Point out the example of 'setToolTipText'. A bad description repeats 'Sets the tool tip text' which provides no additional info beyond the method name [150]. A preferred description explains that it registers the text to display when the cursor lingers, and handles null parameters by turning off tooltips [150].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Warn students against leaking implementation details [130, 176]. An API specification should survive a clean-room rewrite without changing the Javadoc signatures [129, 130].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9EF0B1-BE87-46C0-9959-DA7BB17AB05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Instructor Notes - Slide 4 (Block &amp; Inline Tags):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that tags must appear in a specific order: @author and @version go at class-level [152, 217]. At method-level, the order is @param (in order of declaration), then @return, and then @throws [152, 153, 217].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Highlight @param conventions: follow the tag with parameter name, then description [159]. The first word of the description should state the data type (e.g., 'the character to be tested') [159, 160].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that @return is required even when redundant with the description [156, 162], and that @throws should describe checked exceptions and unchecked exceptions that the caller might reasonably catch [167, 175]. Unchecked exceptions tied to specific implementation details should be genericized (e.g., use IndexOutOfBoundsException instead of ArrayIndexOutOfBoundsException) [176].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{@link} and {@code}. These are inline tags enclosed in curly braces [139, 201]. Show how they render as hyperlinks and monospace keywords in the final HTML document [139, 216].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3D5681-F6C7-4132-947C-CEA791465BA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Instructor Notes - Slide 5 (Automated Generation):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Connect this slide back to the students' previous CI/CD and Maven knowledge.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Method A (Command line): The javadoc tool command specifies output using -d and the Java source files [206, 218]. To export private methods (e.g. for developer-facing specs), they must pass the -private option [202]. Custom tags can be defined with -tag [208, 209].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Explain Method B (Maven plugin): By adding the maven-javadoc-plugin in pom.xml, the process is fully standardized [207, 356].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Detail difference between build (mvn javadoc:javadoc) and report (mvn site). Reporting under &lt;reporting&gt; integrates the docs into the Maven project website [355, 356]. Under &lt;build&gt;, it allows executing standalone goals [356]. Show how configuration parameters cleanly turn into tag names in pom.xml [357, 358].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23FA5A-EA8A-4E6C-B67F-F8F43D3B27C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3C8F1A-75E6-44A6-91A2-D184AB07C4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93CFF-324C-46C9-8E74-ED470CC450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5DEF0F-077A-4170-8ACA-96F49E7BD2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9D048A-0EC0-495E-ADFD-7893449F98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91CE55-C115-465D-B4DF-9A15699952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F2411-A79F-4E5F-9BFF-6F5B8F9E19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7D5824-0C38-4B0D-AF51-B29073C7A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222496-347E-48F3-8175-0CA8CED522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77D6B-A428-481D-AB07-B414974012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E40DF7-67D9-4227-8F19-F6FBB6FEC2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BF0BBB-DE9F-4694-8079-B9D5D0508E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9F9588-8422-456A-9245-804E00E752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E68AB9-24FE-43D5-AD29-D29B37E81CB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4114440" cy="6857640"/>
          </a:xfrm>
          <a:prstGeom prst="rect">
            <a:avLst/>
          </a:prstGeom>
          <a:solidFill>
            <a:srgbClr val="1f4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TextBox 2"/>
          <p:cNvSpPr/>
          <p:nvPr/>
        </p:nvSpPr>
        <p:spPr>
          <a:xfrm>
            <a:off x="457200" y="1828800"/>
            <a:ext cx="3200040" cy="15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d97706"/>
                </a:solidFill>
                <a:latin typeface="Arial"/>
              </a:rPr>
              <a:t>FIDELITY LEAP PROGRAMME</a:t>
            </a:r>
            <a:endParaRPr b="0" lang="en-US" sz="12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300" spc="-1" strike="noStrike">
                <a:solidFill>
                  <a:srgbClr val="faf9f5"/>
                </a:solidFill>
                <a:latin typeface="Arial"/>
              </a:rPr>
              <a:t>A classroom-ready guide to writing implementation-independent, specification-grade Java documentation comments.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4754880" y="2011680"/>
            <a:ext cx="6857640" cy="28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4400" spc="-1" strike="noStrike">
                <a:solidFill>
                  <a:srgbClr val="2d312e"/>
                </a:solidFill>
                <a:latin typeface="Georgia"/>
              </a:rPr>
              <a:t>API Documentation</a:t>
            </a:r>
            <a:endParaRPr b="0" lang="en-US" sz="4400" spc="-1" strike="noStrike">
              <a:latin typeface="Arial"/>
            </a:endParaRPr>
          </a:p>
          <a:p>
            <a:r>
              <a:rPr b="1" lang="en-US" sz="4400" spc="-1" strike="noStrike">
                <a:solidFill>
                  <a:srgbClr val="2d312e"/>
                </a:solidFill>
                <a:latin typeface="Georgia"/>
              </a:rPr>
              <a:t>Made Simple</a:t>
            </a:r>
            <a:endParaRPr b="0" lang="en-US" sz="4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b="0" lang="en-US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717773"/>
                </a:solidFill>
                <a:latin typeface="Arial"/>
              </a:rPr>
              <a:t>Writing, Formatting, and Generating Professional Javadoc Specs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0" name="Rectangle 4"/>
          <p:cNvSpPr/>
          <p:nvPr/>
        </p:nvSpPr>
        <p:spPr>
          <a:xfrm>
            <a:off x="4754880" y="4572000"/>
            <a:ext cx="274284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1"/>
          <p:cNvSpPr/>
          <p:nvPr/>
        </p:nvSpPr>
        <p:spPr>
          <a:xfrm>
            <a:off x="457200" y="365760"/>
            <a:ext cx="1127700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000" spc="-1" strike="noStrike">
                <a:solidFill>
                  <a:srgbClr val="d97706"/>
                </a:solidFill>
                <a:latin typeface="Arial"/>
              </a:rPr>
              <a:t>TECHNICAL DOCUMENTATION &amp; STANDARDS | LESSON 1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e3d"/>
                </a:solidFill>
                <a:latin typeface="Georgia"/>
              </a:rPr>
              <a:t>A Javadoc block relies on specific delimiters and structured text layout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Rectangle 2"/>
          <p:cNvSpPr/>
          <p:nvPr/>
        </p:nvSpPr>
        <p:spPr>
          <a:xfrm>
            <a:off x="457200" y="1234440"/>
            <a:ext cx="11277000" cy="18720"/>
          </a:xfrm>
          <a:prstGeom prst="rect">
            <a:avLst/>
          </a:prstGeom>
          <a:solidFill>
            <a:srgbClr val="cdd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Rounded Rectangle 3"/>
          <p:cNvSpPr/>
          <p:nvPr/>
        </p:nvSpPr>
        <p:spPr>
          <a:xfrm>
            <a:off x="457200" y="1645920"/>
            <a:ext cx="5486040" cy="4571640"/>
          </a:xfrm>
          <a:prstGeom prst="roundRect">
            <a:avLst>
              <a:gd name="adj" fmla="val 16667"/>
            </a:avLst>
          </a:prstGeom>
          <a:solidFill>
            <a:srgbClr val="232825"/>
          </a:solidFill>
          <a:ln>
            <a:noFill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4"/>
          <p:cNvSpPr/>
          <p:nvPr/>
        </p:nvSpPr>
        <p:spPr>
          <a:xfrm>
            <a:off x="640080" y="1737360"/>
            <a:ext cx="5120280" cy="24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/**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* Returns an Image object paintable on screen.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* The url must specify an absolute {@link URL}.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* &lt;p&gt;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i="1" lang="en-US" sz="1200" spc="-1" strike="noStrike">
                <a:solidFill>
                  <a:srgbClr val="8ac37a"/>
                </a:solidFill>
                <a:latin typeface="Courier New"/>
              </a:rPr>
              <a:t>* This method returns immediately in all cases.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*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* @param url  the base location of the image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* @return     the image at the specified URL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8ac37a"/>
                </a:solidFill>
                <a:latin typeface="Courier New"/>
              </a:rPr>
              <a:t>*/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200" spc="-1" strike="noStrike">
                <a:solidFill>
                  <a:srgbClr val="5e9dce"/>
                </a:solidFill>
                <a:latin typeface="Courier New"/>
              </a:rPr>
              <a:t>public Image getImage(URL url) {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i="1" lang="en-US" sz="1200" spc="-1" strike="noStrike">
                <a:solidFill>
                  <a:srgbClr val="717773"/>
                </a:solidFill>
                <a:latin typeface="Courier New"/>
              </a:rPr>
              <a:t>    </a:t>
            </a:r>
            <a:r>
              <a:rPr b="0" i="1" lang="en-US" sz="1200" spc="-1" strike="noStrike">
                <a:solidFill>
                  <a:srgbClr val="717773"/>
                </a:solidFill>
                <a:latin typeface="Courier New"/>
              </a:rPr>
              <a:t>// Method implementation...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200" spc="-1" strike="noStrike">
                <a:solidFill>
                  <a:srgbClr val="5e9dce"/>
                </a:solidFill>
                <a:latin typeface="Courier New"/>
              </a:rPr>
              <a:t>}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6400800" y="1645920"/>
            <a:ext cx="5303160" cy="32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■  </a:t>
            </a: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The Javadoc Delimiter (/** ... */)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d312e"/>
                </a:solidFill>
                <a:latin typeface="Arial"/>
              </a:rPr>
              <a:t>Standard multi-line comments use /* ... */. Javadoc comments require an extra asterisk at the start (/**) so they can be parsed by the compiler toolchain to generate clean HTML pages.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■  </a:t>
            </a: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First Sentence is the Summary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d312e"/>
                </a:solidFill>
                <a:latin typeface="Arial"/>
              </a:rPr>
              <a:t>The very first sentence acts as a complete summary and is automatically copied to the index tables. It must end with a period followed by a space, tab, or newline.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■  </a:t>
            </a:r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Block &amp; Inline Tags Section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d312e"/>
                </a:solidFill>
                <a:latin typeface="Arial"/>
              </a:rPr>
              <a:t>Standalone tags (like @param, @return) start on a new line and provide metadata. Inline tags (like {@link}) appear anywhere inside curly braces for dynamic cross-references.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457200" y="365760"/>
            <a:ext cx="112770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000" spc="-1" strike="noStrike">
                <a:solidFill>
                  <a:srgbClr val="d97706"/>
                </a:solidFill>
                <a:latin typeface="Arial"/>
              </a:rPr>
              <a:t>TECHNICAL DOCUMENTATION &amp; STANDARDS | LESSON 2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e3d"/>
                </a:solidFill>
                <a:latin typeface="Georgia"/>
              </a:rPr>
              <a:t>The first sentence defines the summary contract and requires descriptive style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7" name="Rectangle 2"/>
          <p:cNvSpPr/>
          <p:nvPr/>
        </p:nvSpPr>
        <p:spPr>
          <a:xfrm>
            <a:off x="457200" y="1234440"/>
            <a:ext cx="11277000" cy="18720"/>
          </a:xfrm>
          <a:prstGeom prst="rect">
            <a:avLst/>
          </a:prstGeom>
          <a:solidFill>
            <a:srgbClr val="cdd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3"/>
          <p:cNvSpPr/>
          <p:nvPr/>
        </p:nvSpPr>
        <p:spPr>
          <a:xfrm>
            <a:off x="457200" y="1463040"/>
            <a:ext cx="1127700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717773"/>
                </a:solidFill>
                <a:latin typeface="Arial"/>
              </a:rPr>
              <a:t>Javadoc acts as an official specification, not a mere developer guide. Comments should be implementation-independent, specifying argument boundaries, ranges, and corner cases without leaking private details.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9" name="Rounded Rectangle 4"/>
          <p:cNvSpPr/>
          <p:nvPr/>
        </p:nvSpPr>
        <p:spPr>
          <a:xfrm>
            <a:off x="457200" y="2377440"/>
            <a:ext cx="539460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5"/>
          <p:cNvSpPr/>
          <p:nvPr/>
        </p:nvSpPr>
        <p:spPr>
          <a:xfrm>
            <a:off x="640080" y="2560320"/>
            <a:ext cx="5028840" cy="26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d97706"/>
                </a:solidFill>
                <a:latin typeface="Arial"/>
              </a:rPr>
              <a:t>AVOID: Imperative &amp; Repetitive Styles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Using 2nd person prescriptive style: 'Get the label.' instead of describing the action.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Merely repeating the API name in sentence form: 'Sets the tool tip text.' provides no additional value.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Referencing implementation-specific details: Avoid mentioning internal arrays or private locking states.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Including empty parentheses like 'add()' to refer to general overloaded methods.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" name="Rounded Rectangle 6"/>
          <p:cNvSpPr/>
          <p:nvPr/>
        </p:nvSpPr>
        <p:spPr>
          <a:xfrm>
            <a:off x="6309360" y="2377440"/>
            <a:ext cx="5394600" cy="3840120"/>
          </a:xfrm>
          <a:prstGeom prst="roundRect">
            <a:avLst>
              <a:gd name="adj" fmla="val 16667"/>
            </a:avLst>
          </a:prstGeom>
          <a:solidFill>
            <a:srgbClr val="eef4f1"/>
          </a:solidFill>
          <a:ln>
            <a:solidFill>
              <a:srgbClr val="1f4e3d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TextBox 7"/>
          <p:cNvSpPr/>
          <p:nvPr/>
        </p:nvSpPr>
        <p:spPr>
          <a:xfrm>
            <a:off x="6492240" y="2560320"/>
            <a:ext cx="5028840" cy="26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1f4e3d"/>
                </a:solidFill>
                <a:latin typeface="Arial"/>
              </a:rPr>
              <a:t>PREFERRED: Concise, Standardized Formats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Use 3rd person descriptive verbs: 'Gets the label of this button.' as a statement of fact.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Explain boundary conditions, argument ranges, and null behaviors to reward the reader.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Keep specifications platform-independent so they serve as clean contract assertions.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Omit parentheses entirely ('the add method') when referring to multiple overloaded forms.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457200" y="365760"/>
            <a:ext cx="112770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000" spc="-1" strike="noStrike">
                <a:solidFill>
                  <a:srgbClr val="d97706"/>
                </a:solidFill>
                <a:latin typeface="Arial"/>
              </a:rPr>
              <a:t>TECHNICAL DOCUMENTATION &amp; STANDARDS | LESSON 3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e3d"/>
                </a:solidFill>
                <a:latin typeface="Georgia"/>
              </a:rPr>
              <a:t>Core tags document method signatures and create inline cross-references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457200" y="1234440"/>
            <a:ext cx="11277000" cy="18720"/>
          </a:xfrm>
          <a:prstGeom prst="rect">
            <a:avLst/>
          </a:prstGeom>
          <a:solidFill>
            <a:srgbClr val="cdd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Rounded Rectangle 3"/>
          <p:cNvSpPr/>
          <p:nvPr/>
        </p:nvSpPr>
        <p:spPr>
          <a:xfrm>
            <a:off x="457200" y="1645920"/>
            <a:ext cx="539460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4"/>
          <p:cNvSpPr/>
          <p:nvPr/>
        </p:nvSpPr>
        <p:spPr>
          <a:xfrm>
            <a:off x="640080" y="1783080"/>
            <a:ext cx="5028840" cy="15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1f4e3d"/>
                </a:solidFill>
                <a:latin typeface="Courier New"/>
              </a:rPr>
              <a:t>@param &lt;name&gt; &lt;desc&gt;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97706"/>
                </a:solidFill>
                <a:latin typeface="Arial"/>
              </a:rPr>
              <a:t>Method Inputs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2d312e"/>
                </a:solidFill>
                <a:latin typeface="Arial"/>
              </a:rPr>
              <a:t>Required for every parameter, even when obvious. Followed by name, then description. By convention, the first word is its data type (using lowercase for objects).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7" name="Rounded Rectangle 5"/>
          <p:cNvSpPr/>
          <p:nvPr/>
        </p:nvSpPr>
        <p:spPr>
          <a:xfrm>
            <a:off x="6309360" y="1645920"/>
            <a:ext cx="539460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6"/>
          <p:cNvSpPr/>
          <p:nvPr/>
        </p:nvSpPr>
        <p:spPr>
          <a:xfrm>
            <a:off x="6492240" y="1783080"/>
            <a:ext cx="5028840" cy="15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1f4e3d"/>
                </a:solidFill>
                <a:latin typeface="Courier New"/>
              </a:rPr>
              <a:t>@return &lt;desc&gt;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97706"/>
                </a:solidFill>
                <a:latin typeface="Arial"/>
              </a:rPr>
              <a:t>Method Output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2d312e"/>
                </a:solidFill>
                <a:latin typeface="Arial"/>
              </a:rPr>
              <a:t>Required for every method with a non-void return. Start description with a lowercase phrase (no verb) describing the returned value rather than repeating 'returns...'.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9" name="Rounded Rectangle 7"/>
          <p:cNvSpPr/>
          <p:nvPr/>
        </p:nvSpPr>
        <p:spPr>
          <a:xfrm>
            <a:off x="457200" y="4206240"/>
            <a:ext cx="539460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8"/>
          <p:cNvSpPr/>
          <p:nvPr/>
        </p:nvSpPr>
        <p:spPr>
          <a:xfrm>
            <a:off x="640080" y="4343400"/>
            <a:ext cx="5028840" cy="15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1f4e3d"/>
                </a:solidFill>
                <a:latin typeface="Courier New"/>
              </a:rPr>
              <a:t>@throws &lt;exception&gt; &lt;desc&gt;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97706"/>
                </a:solidFill>
                <a:latin typeface="Arial"/>
              </a:rPr>
              <a:t>Exceptions &amp; Boundary Conditions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2d312e"/>
                </a:solidFill>
                <a:latin typeface="Arial"/>
              </a:rPr>
              <a:t>Specify both declared checked exceptions and reasonable unchecked exceptions (like IndexOutOfBoundsException) that a caller might need to handle or translate.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1" name="Rounded Rectangle 9"/>
          <p:cNvSpPr/>
          <p:nvPr/>
        </p:nvSpPr>
        <p:spPr>
          <a:xfrm>
            <a:off x="6309360" y="4206240"/>
            <a:ext cx="539460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492240" y="4343400"/>
            <a:ext cx="5028840" cy="15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600" spc="-1" strike="noStrike">
                <a:solidFill>
                  <a:srgbClr val="1f4e3d"/>
                </a:solidFill>
                <a:latin typeface="Courier New"/>
              </a:rPr>
              <a:t>{@link} &amp; {@code} Inline Tags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97706"/>
                </a:solidFill>
                <a:latin typeface="Arial"/>
              </a:rPr>
              <a:t>HTML Links &amp; Monospace Styling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2d312e"/>
                </a:solidFill>
                <a:latin typeface="Arial"/>
              </a:rPr>
              <a:t>Surrounded by curly braces. {@link Class#member} produces a clickable link in generated docs. {@code null} styles code keywords in monospace font.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365760"/>
            <a:ext cx="112770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000" spc="-1" strike="noStrike">
                <a:solidFill>
                  <a:srgbClr val="d97706"/>
                </a:solidFill>
                <a:latin typeface="Arial"/>
              </a:rPr>
              <a:t>TECHNICAL DOCUMENTATION &amp; STANDARDS | LESSON 4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e3d"/>
                </a:solidFill>
                <a:latin typeface="Georgia"/>
              </a:rPr>
              <a:t>JDK commands and Maven plugins turn source comments into HTML sites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457200" y="1234440"/>
            <a:ext cx="11277000" cy="18720"/>
          </a:xfrm>
          <a:prstGeom prst="rect">
            <a:avLst/>
          </a:prstGeom>
          <a:solidFill>
            <a:srgbClr val="cdd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ounded Rectangle 3"/>
          <p:cNvSpPr/>
          <p:nvPr/>
        </p:nvSpPr>
        <p:spPr>
          <a:xfrm>
            <a:off x="457200" y="1645920"/>
            <a:ext cx="5394600" cy="4571640"/>
          </a:xfrm>
          <a:prstGeom prst="roundRect">
            <a:avLst>
              <a:gd name="adj" fmla="val 16667"/>
            </a:avLst>
          </a:prstGeom>
          <a:solidFill>
            <a:srgbClr val="eef4f1"/>
          </a:solidFill>
          <a:ln>
            <a:solidFill>
              <a:srgbClr val="cdd8d4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4"/>
          <p:cNvSpPr/>
          <p:nvPr/>
        </p:nvSpPr>
        <p:spPr>
          <a:xfrm>
            <a:off x="640080" y="1828800"/>
            <a:ext cx="5028840" cy="37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METHOD A: Native JDK Command-Line Tool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The 'javadoc' executable: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Built into the standard JDK installation bin/ folder.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Basic Compilation Syntax: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javadoc -d doc src\*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Processes all files in 'src/' and outputs files directly into the 'doc/' directory.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Selective Access Flags: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By default, only public and protected members are exported. Pass -private to document internal helper methods.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d97706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Adding Custom Tags: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Use the -tag CLI option dynamically to introduce customized headers (e.g. -tag location:a:"Notable Locations:").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6309360" y="1645920"/>
            <a:ext cx="5394600" cy="457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f4e3d"/>
            </a:solidFill>
            <a:round/>
          </a:ln>
          <a:effectLst>
            <a:outerShdw blurRad="29880" dir="5400000" dist="151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6"/>
          <p:cNvSpPr/>
          <p:nvPr/>
        </p:nvSpPr>
        <p:spPr>
          <a:xfrm>
            <a:off x="6492240" y="1828800"/>
            <a:ext cx="502884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800" spc="-1" strike="noStrike">
                <a:solidFill>
                  <a:srgbClr val="1f4e3d"/>
                </a:solidFill>
                <a:latin typeface="Georgia"/>
              </a:rPr>
              <a:t>METHOD B: Apache Maven Javadoc Plugin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Plugin Configuration: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Add maven-javadoc-plugin in your pom.xml (either under &lt;build&gt; or &lt;reporting&gt;).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Single Build Execution: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Run mvn javadoc:javadoc to trigger standard compilation to target/site/apidocs/.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Interactive Site Integration: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Running mvn site automatically compiles documentation and embeds cross-reference links directly inside the project site.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300" spc="-1" strike="noStrike">
                <a:solidFill>
                  <a:srgbClr val="1f4e3d"/>
                </a:solidFill>
                <a:latin typeface="Arial"/>
              </a:rPr>
              <a:t>✦ </a:t>
            </a:r>
            <a:r>
              <a:rPr b="1" lang="en-US" sz="1300" spc="-1" strike="noStrike">
                <a:solidFill>
                  <a:srgbClr val="2d312e"/>
                </a:solidFill>
                <a:latin typeface="Arial"/>
              </a:rPr>
              <a:t>Configuring Custom Tags: </a:t>
            </a:r>
            <a:r>
              <a:rPr b="0" lang="en-US" sz="1300" spc="-1" strike="noStrike">
                <a:solidFill>
                  <a:srgbClr val="2d312e"/>
                </a:solidFill>
                <a:latin typeface="Arial"/>
              </a:rPr>
              <a:t>Declare custom tags cleanly within pom.xml tags instead of typing complex command strings.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PPTXPresentationEditor/1.2.0.0$MacOSX_X86_64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2026-09-02T11:12:05Z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