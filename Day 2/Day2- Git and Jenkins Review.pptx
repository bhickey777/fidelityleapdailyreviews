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slideMasters/slideMaster1.xml" ContentType="application/vnd.openxmlformats-officedocument.presentationml.slideMaster+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slideLayouts/slideLayout19.xml" ContentType="application/vnd.openxmlformats-officedocument.presentationml.slideLayout+xml"/>
  <Override PartName="/ppt/slideLayouts/slideLayout17.xml" ContentType="application/vnd.openxmlformats-officedocument.presentationml.slideLayout+xml"/>
  <Override PartName="/ppt/slideLayouts/slideLayout8.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9.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3.xml" ContentType="application/vnd.openxmlformats-officedocument.presentationml.slideLayout+xml"/>
  <Override PartName="/ppt/slideLayouts/_rels/slideLayout14.xml.rels" ContentType="application/vnd.openxmlformats-package.relationships+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23.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16.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3.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1.xml.rels" ContentType="application/vnd.openxmlformats-package.relationships+xml"/>
  <Override PartName="/ppt/slideLayouts/_rels/slideLayout18.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0.xml.rels" ContentType="application/vnd.openxmlformats-package.relationships+xml"/>
  <Override PartName="/ppt/slideLayouts/_rels/slideLayout12.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slideLayout5.xml" ContentType="application/vnd.openxmlformats-officedocument.presentationml.slideLayout+xml"/>
  <Override PartName="/ppt/slideLayouts/slideLayout14.xml" ContentType="application/vnd.openxmlformats-officedocument.presentationml.slideLayout+xml"/>
  <Override PartName="/ppt/slideLayouts/slideLayout6.xml" ContentType="application/vnd.openxmlformats-officedocument.presentationml.slideLayout+xml"/>
  <Override PartName="/ppt/slideLayouts/slideLayout15.xml" ContentType="application/vnd.openxmlformats-officedocument.presentationml.slideLayout+xml"/>
  <Override PartName="/ppt/slideLayouts/slideLayout7.xml" ContentType="application/vnd.openxmlformats-officedocument.presentationml.slideLayout+xml"/>
  <Override PartName="/ppt/slideLayouts/slideLayout16.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s/slide1.xml" ContentType="application/vnd.openxmlformats-officedocument.presentationml.slide+xml"/>
  <Override PartName="/ppt/slides/slide19.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7.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_rels/slide18.xml.rels" ContentType="application/vnd.openxmlformats-package.relationships+xml"/>
  <Override PartName="/ppt/slides/_rels/slide11.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16.xml.rels" ContentType="application/vnd.openxmlformats-package.relationships+xml"/>
  <Override PartName="/ppt/slides/_rels/slide15.xml.rels" ContentType="application/vnd.openxmlformats-package.relationships+xml"/>
  <Override PartName="/ppt/slides/_rels/slide14.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9.xml.rels" ContentType="application/vnd.openxmlformats-package.relationships+xml"/>
  <Override PartName="/ppt/slides/_rels/slide2.xml.rels" ContentType="application/vnd.openxmlformats-package.relationships+xml"/>
  <Override PartName="/ppt/slides/_rels/slide9.xml.rels" ContentType="application/vnd.openxmlformats-package.relationships+xml"/>
  <Override PartName="/ppt/slides/_rels/slide1.xml.rels" ContentType="application/vnd.openxmlformats-package.relationships+xml"/>
  <Override PartName="/ppt/slides/_rels/slide8.xml.rels" ContentType="application/vnd.openxmlformats-package.relationships+xml"/>
  <Override PartName="/ppt/slides/_rels/slide21.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20.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3.xml.rels" ContentType="application/vnd.openxmlformats-package.relationships+xml"/>
  <Override PartName="/ppt/slides/slide18.xml" ContentType="application/vnd.openxmlformats-officedocument.presentationml.slide+xml"/>
  <Override PartName="/ppt/notesSlides/_rels/notesSlide19.xml.rels" ContentType="application/vnd.openxmlformats-package.relationships+xml"/>
  <Override PartName="/ppt/notesSlides/_rels/notesSlide12.xml.rels" ContentType="application/vnd.openxmlformats-package.relationships+xml"/>
  <Override PartName="/ppt/notesSlides/_rels/notesSlide20.xml.rels" ContentType="application/vnd.openxmlformats-package.relationships+xml"/>
  <Override PartName="/ppt/notesSlides/_rels/notesSlide18.xml.rels" ContentType="application/vnd.openxmlformats-package.relationships+xml"/>
  <Override PartName="/ppt/notesSlides/_rels/notesSlide11.xml.rels" ContentType="application/vnd.openxmlformats-package.relationships+xml"/>
  <Override PartName="/ppt/notesSlides/_rels/notesSlide17.xml.rels" ContentType="application/vnd.openxmlformats-package.relationships+xml"/>
  <Override PartName="/ppt/notesSlides/_rels/notesSlide10.xml.rels" ContentType="application/vnd.openxmlformats-package.relationships+xml"/>
  <Override PartName="/ppt/notesSlides/_rels/notesSlide16.xml.rels" ContentType="application/vnd.openxmlformats-package.relationships+xml"/>
  <Override PartName="/ppt/notesSlides/_rels/notesSlide15.xml.rels" ContentType="application/vnd.openxmlformats-package.relationships+xml"/>
  <Override PartName="/ppt/notesSlides/_rels/notesSlide14.xml.rels" ContentType="application/vnd.openxmlformats-package.relationships+xml"/>
  <Override PartName="/ppt/notesSlides/_rels/notesSlide13.xml.rels" ContentType="application/vnd.openxmlformats-package.relationships+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21.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notesSlide4.xml" ContentType="application/vnd.openxmlformats-officedocument.presentationml.notesSlide+xml"/>
  <Override PartName="/ppt/notesSlides/notesSlide20.xml" ContentType="application/vnd.openxmlformats-officedocument.presentationml.notesSlide+xml"/>
  <Override PartName="/ppt/notesSlides/notesSlide11.xml" ContentType="application/vnd.openxmlformats-officedocument.presentationml.notesSlide+xml"/>
  <Override PartName="/ppt/notesSlides/notesSlide5.xml" ContentType="application/vnd.openxmlformats-officedocument.presentationml.notesSlide+xml"/>
  <Override PartName="/ppt/notesSlides/notesSlide2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13.xml" ContentType="application/vnd.openxmlformats-officedocument.presentationml.notesSlide+xml"/>
  <Override PartName="/ppt/notesSlides/notesSlide7.xml" ContentType="application/vnd.openxmlformats-officedocument.presentationml.notesSlide+xml"/>
  <Override PartName="/ppt/notesSlides/notesSlide14.xml" ContentType="application/vnd.openxmlformats-officedocument.presentationml.notesSlide+xml"/>
  <Override PartName="/ppt/notesSlides/notesSlide8.xml" ContentType="application/vnd.openxmlformats-officedocument.presentationml.notesSlide+xml"/>
  <Override PartName="/ppt/notesSlides/notesSlide15.xml" ContentType="application/vnd.openxmlformats-officedocument.presentationml.notesSlide+xml"/>
  <Override PartName="/ppt/notesSlides/notesSlide9.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Masters/_rels/notesMaster1.xml.rels" ContentType="application/vnd.openxmlformats-package.relationships+xml"/>
  <Override PartName="/ppt/notesMasters/notesMaster1.xml" ContentType="application/vnd.openxmlformats-officedocument.presentationml.notesMaster+xml"/>
  <Override PartName="/ppt/presentation.xml" ContentType="application/vnd.openxmlformats-officedocument.presentationml.presentation.main+xml"/>
  <Override PartName="/ppt/_rels/presentation.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buNone/>
            </a:pPr>
            <a:r>
              <a:rPr b="0" lang="en-US" sz="4400" spc="-1" strike="noStrike">
                <a:latin typeface="Arial"/>
              </a:rPr>
              <a:t>Click to move the slide</a:t>
            </a:r>
            <a:endParaRPr b="0" lang="en-US" sz="4400" spc="-1" strike="noStrike">
              <a:latin typeface="Arial"/>
            </a:endParaRPr>
          </a:p>
        </p:txBody>
      </p:sp>
      <p:sp>
        <p:nvSpPr>
          <p:cNvPr id="83"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84" name="PlaceHolder 3"/>
          <p:cNvSpPr>
            <a:spLocks noGrp="1"/>
          </p:cNvSpPr>
          <p:nvPr>
            <p:ph type="hdr"/>
          </p:nvPr>
        </p:nvSpPr>
        <p:spPr>
          <a:xfrm>
            <a:off x="0" y="0"/>
            <a:ext cx="3372840" cy="50256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85" name="PlaceHolder 4"/>
          <p:cNvSpPr>
            <a:spLocks noGrp="1"/>
          </p:cNvSpPr>
          <p:nvPr>
            <p:ph type="dt" idx="7"/>
          </p:nvPr>
        </p:nvSpPr>
        <p:spPr>
          <a:xfrm>
            <a:off x="4399200" y="0"/>
            <a:ext cx="3372840" cy="50256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86" name="PlaceHolder 5"/>
          <p:cNvSpPr>
            <a:spLocks noGrp="1"/>
          </p:cNvSpPr>
          <p:nvPr>
            <p:ph type="ftr" idx="8"/>
          </p:nvPr>
        </p:nvSpPr>
        <p:spPr>
          <a:xfrm>
            <a:off x="0" y="9555480"/>
            <a:ext cx="3372840" cy="50256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87" name="PlaceHolder 6"/>
          <p:cNvSpPr>
            <a:spLocks noGrp="1"/>
          </p:cNvSpPr>
          <p:nvPr>
            <p:ph type="sldNum" idx="9"/>
          </p:nvPr>
        </p:nvSpPr>
        <p:spPr>
          <a:xfrm>
            <a:off x="4399200" y="9555480"/>
            <a:ext cx="3372840" cy="50256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67C601BE-86DB-4EBA-B924-D2A45DD8FEBC}"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sldImg"/>
          </p:nvPr>
        </p:nvSpPr>
        <p:spPr>
          <a:xfrm>
            <a:off x="1143000" y="685800"/>
            <a:ext cx="4570920" cy="3427920"/>
          </a:xfrm>
          <a:prstGeom prst="rect">
            <a:avLst/>
          </a:prstGeom>
          <a:ln w="0">
            <a:noFill/>
          </a:ln>
        </p:spPr>
      </p:sp>
      <p:sp>
        <p:nvSpPr>
          <p:cNvPr id="133" name="PlaceHolder 2"/>
          <p:cNvSpPr>
            <a:spLocks noGrp="1"/>
          </p:cNvSpPr>
          <p:nvPr>
            <p:ph type="body"/>
          </p:nvPr>
        </p:nvSpPr>
        <p:spPr>
          <a:xfrm>
            <a:off x="685800" y="4343400"/>
            <a:ext cx="5485320" cy="4113720"/>
          </a:xfrm>
          <a:prstGeom prst="rect">
            <a:avLst/>
          </a:prstGeom>
          <a:noFill/>
          <a:ln w="0">
            <a:noFill/>
          </a:ln>
        </p:spPr>
        <p:txBody>
          <a:bodyPr lIns="0" rIns="0" tIns="0" bIns="0" anchor="t">
            <a:noAutofit/>
          </a:bodyPr>
          <a:p>
            <a:pPr marL="216000" indent="-216000">
              <a:lnSpc>
                <a:spcPct val="100000"/>
              </a:lnSpc>
              <a:buNone/>
              <a:tabLst>
                <a:tab algn="l" pos="0"/>
              </a:tabLst>
            </a:pPr>
            <a:r>
              <a:rPr b="1" lang="en-US" sz="1200" spc="-1" strike="noStrike">
                <a:latin typeface="Courier New"/>
              </a:rPr>
              <a:t>========================================</a:t>
            </a:r>
            <a:br>
              <a:rPr sz="1200"/>
            </a:br>
            <a:r>
              <a:rPr b="1" lang="en-US" sz="1200" spc="-1" strike="noStrike">
                <a:latin typeface="Courier New"/>
              </a:rPr>
              <a:t>CORRECT ANSWER FOR QUESTION 01:</a:t>
            </a:r>
            <a:br>
              <a:rPr sz="1200"/>
            </a:br>
            <a:r>
              <a:rPr b="1" lang="en-US" sz="1200" spc="-1" strike="noStrike">
                <a:latin typeface="Courier New"/>
              </a:rPr>
              <a:t>--&gt; 777</a:t>
            </a:r>
            <a:br>
              <a:rPr sz="1200"/>
            </a:br>
            <a:r>
              <a:rPr b="1" lang="en-US" sz="1200" spc="-1" strike="noStrike">
                <a:latin typeface="Courier New"/>
              </a:rPr>
              <a:t>========================================</a:t>
            </a:r>
            <a:br>
              <a:rPr sz="1200"/>
            </a:br>
            <a:br>
              <a:rPr sz="1200"/>
            </a:br>
            <a:endParaRPr b="0" lang="en-US" sz="1200" spc="-1" strike="noStrike">
              <a:latin typeface="Arial"/>
            </a:endParaRPr>
          </a:p>
          <a:p>
            <a:pPr marL="216000" indent="-216000">
              <a:lnSpc>
                <a:spcPct val="100000"/>
              </a:lnSpc>
              <a:buNone/>
              <a:tabLst>
                <a:tab algn="l" pos="0"/>
              </a:tabLst>
            </a:pPr>
            <a:r>
              <a:rPr b="0" lang="en-US" sz="1100" spc="-1" strike="noStrike">
                <a:latin typeface="Courier New"/>
              </a:rPr>
              <a:t>TECHNICAL EXPLANATION &amp; REFERENCE:</a:t>
            </a:r>
            <a:br>
              <a:rPr sz="1100"/>
            </a:br>
            <a:r>
              <a:rPr b="0" lang="en-US" sz="1100" spc="-1" strike="noStrike">
                <a:latin typeface="Courier New"/>
              </a:rPr>
              <a:t>Owner: rwx (4+2+1=7), Group: rwx (4+2+1=7), Others: rwx (4+2+1=7). This grants full read, write, and execute permissions to everyone.</a:t>
            </a:r>
            <a:br>
              <a:rPr sz="1100"/>
            </a:br>
            <a:endParaRPr b="0" lang="en-US" sz="1100" spc="-1" strike="noStrike">
              <a:latin typeface="Arial"/>
            </a:endParaRPr>
          </a:p>
        </p:txBody>
      </p:sp>
      <p:sp>
        <p:nvSpPr>
          <p:cNvPr id="134" name="PlaceHolder 3"/>
          <p:cNvSpPr>
            <a:spLocks noGrp="1"/>
          </p:cNvSpPr>
          <p:nvPr>
            <p:ph type="sldNum" idx="10"/>
          </p:nvPr>
        </p:nvSpPr>
        <p:spPr>
          <a:xfrm>
            <a:off x="3884760" y="8685360"/>
            <a:ext cx="297072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11F22BE9-9640-41F1-BFD5-EABE5AEDB9F5}"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sldImg"/>
          </p:nvPr>
        </p:nvSpPr>
        <p:spPr>
          <a:xfrm>
            <a:off x="1143000" y="685800"/>
            <a:ext cx="4570920" cy="3427920"/>
          </a:xfrm>
          <a:prstGeom prst="rect">
            <a:avLst/>
          </a:prstGeom>
          <a:ln w="0">
            <a:noFill/>
          </a:ln>
        </p:spPr>
      </p:sp>
      <p:sp>
        <p:nvSpPr>
          <p:cNvPr id="136" name="PlaceHolder 2"/>
          <p:cNvSpPr>
            <a:spLocks noGrp="1"/>
          </p:cNvSpPr>
          <p:nvPr>
            <p:ph type="body"/>
          </p:nvPr>
        </p:nvSpPr>
        <p:spPr>
          <a:xfrm>
            <a:off x="685800" y="4343400"/>
            <a:ext cx="5485320" cy="4113720"/>
          </a:xfrm>
          <a:prstGeom prst="rect">
            <a:avLst/>
          </a:prstGeom>
          <a:noFill/>
          <a:ln w="0">
            <a:noFill/>
          </a:ln>
        </p:spPr>
        <p:txBody>
          <a:bodyPr lIns="0" rIns="0" tIns="0" bIns="0" anchor="t">
            <a:noAutofit/>
          </a:bodyPr>
          <a:p>
            <a:pPr marL="216000" indent="-216000">
              <a:lnSpc>
                <a:spcPct val="100000"/>
              </a:lnSpc>
              <a:buNone/>
              <a:tabLst>
                <a:tab algn="l" pos="0"/>
              </a:tabLst>
            </a:pPr>
            <a:r>
              <a:rPr b="1" lang="en-US" sz="1200" spc="-1" strike="noStrike">
                <a:latin typeface="Courier New"/>
              </a:rPr>
              <a:t>========================================</a:t>
            </a:r>
            <a:br>
              <a:rPr sz="1200"/>
            </a:br>
            <a:r>
              <a:rPr b="1" lang="en-US" sz="1200" spc="-1" strike="noStrike">
                <a:latin typeface="Courier New"/>
              </a:rPr>
              <a:t>CORRECT ANSWER FOR QUESTION 02:</a:t>
            </a:r>
            <a:br>
              <a:rPr sz="1200"/>
            </a:br>
            <a:r>
              <a:rPr b="1" lang="en-US" sz="1200" spc="-1" strike="noStrike">
                <a:latin typeface="Courier New"/>
              </a:rPr>
              <a:t>--&gt; 640</a:t>
            </a:r>
            <a:br>
              <a:rPr sz="1200"/>
            </a:br>
            <a:r>
              <a:rPr b="1" lang="en-US" sz="1200" spc="-1" strike="noStrike">
                <a:latin typeface="Courier New"/>
              </a:rPr>
              <a:t>========================================</a:t>
            </a:r>
            <a:br>
              <a:rPr sz="1200"/>
            </a:br>
            <a:br>
              <a:rPr sz="1200"/>
            </a:br>
            <a:endParaRPr b="0" lang="en-US" sz="1200" spc="-1" strike="noStrike">
              <a:latin typeface="Arial"/>
            </a:endParaRPr>
          </a:p>
          <a:p>
            <a:pPr marL="216000" indent="-216000">
              <a:lnSpc>
                <a:spcPct val="100000"/>
              </a:lnSpc>
              <a:buNone/>
              <a:tabLst>
                <a:tab algn="l" pos="0"/>
              </a:tabLst>
            </a:pPr>
            <a:r>
              <a:rPr b="0" lang="en-US" sz="1100" spc="-1" strike="noStrike">
                <a:latin typeface="Courier New"/>
              </a:rPr>
              <a:t>TECHNICAL EXPLANATION &amp; REFERENCE:</a:t>
            </a:r>
            <a:br>
              <a:rPr sz="1100"/>
            </a:br>
            <a:r>
              <a:rPr b="0" lang="en-US" sz="1100" spc="-1" strike="noStrike">
                <a:latin typeface="Courier New"/>
              </a:rPr>
              <a:t>Owner: rw- (4+2+0=6), Group: r-- (4+0+0=4), Others: --- (0+0+0=0). This is a secure configuration allowing owners to read/write, group to read, and blocks everyone else.</a:t>
            </a:r>
            <a:br>
              <a:rPr sz="1100"/>
            </a:br>
            <a:endParaRPr b="0" lang="en-US" sz="1100" spc="-1" strike="noStrike">
              <a:latin typeface="Arial"/>
            </a:endParaRPr>
          </a:p>
        </p:txBody>
      </p:sp>
      <p:sp>
        <p:nvSpPr>
          <p:cNvPr id="137" name="PlaceHolder 3"/>
          <p:cNvSpPr>
            <a:spLocks noGrp="1"/>
          </p:cNvSpPr>
          <p:nvPr>
            <p:ph type="sldNum" idx="11"/>
          </p:nvPr>
        </p:nvSpPr>
        <p:spPr>
          <a:xfrm>
            <a:off x="3884760" y="8685360"/>
            <a:ext cx="297072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E72127A0-353F-41B0-84A2-B8EB63459DAA}"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sldImg"/>
          </p:nvPr>
        </p:nvSpPr>
        <p:spPr>
          <a:xfrm>
            <a:off x="1143000" y="685800"/>
            <a:ext cx="4570920" cy="3427920"/>
          </a:xfrm>
          <a:prstGeom prst="rect">
            <a:avLst/>
          </a:prstGeom>
          <a:ln w="0">
            <a:noFill/>
          </a:ln>
        </p:spPr>
      </p:sp>
      <p:sp>
        <p:nvSpPr>
          <p:cNvPr id="139" name="PlaceHolder 2"/>
          <p:cNvSpPr>
            <a:spLocks noGrp="1"/>
          </p:cNvSpPr>
          <p:nvPr>
            <p:ph type="body"/>
          </p:nvPr>
        </p:nvSpPr>
        <p:spPr>
          <a:xfrm>
            <a:off x="685800" y="4343400"/>
            <a:ext cx="5485320" cy="4113720"/>
          </a:xfrm>
          <a:prstGeom prst="rect">
            <a:avLst/>
          </a:prstGeom>
          <a:noFill/>
          <a:ln w="0">
            <a:noFill/>
          </a:ln>
        </p:spPr>
        <p:txBody>
          <a:bodyPr lIns="0" rIns="0" tIns="0" bIns="0" anchor="t">
            <a:noAutofit/>
          </a:bodyPr>
          <a:p>
            <a:pPr marL="216000" indent="-216000">
              <a:lnSpc>
                <a:spcPct val="100000"/>
              </a:lnSpc>
              <a:buNone/>
              <a:tabLst>
                <a:tab algn="l" pos="0"/>
              </a:tabLst>
            </a:pPr>
            <a:r>
              <a:rPr b="1" lang="en-US" sz="1200" spc="-1" strike="noStrike">
                <a:latin typeface="Courier New"/>
              </a:rPr>
              <a:t>========================================</a:t>
            </a:r>
            <a:br>
              <a:rPr sz="1200"/>
            </a:br>
            <a:r>
              <a:rPr b="1" lang="en-US" sz="1200" spc="-1" strike="noStrike">
                <a:latin typeface="Courier New"/>
              </a:rPr>
              <a:t>CORRECT ANSWER FOR QUESTION 03:</a:t>
            </a:r>
            <a:br>
              <a:rPr sz="1200"/>
            </a:br>
            <a:r>
              <a:rPr b="1" lang="en-US" sz="1200" spc="-1" strike="noStrike">
                <a:latin typeface="Courier New"/>
              </a:rPr>
              <a:t>--&gt; 600</a:t>
            </a:r>
            <a:br>
              <a:rPr sz="1200"/>
            </a:br>
            <a:r>
              <a:rPr b="1" lang="en-US" sz="1200" spc="-1" strike="noStrike">
                <a:latin typeface="Courier New"/>
              </a:rPr>
              <a:t>========================================</a:t>
            </a:r>
            <a:br>
              <a:rPr sz="1200"/>
            </a:br>
            <a:br>
              <a:rPr sz="1200"/>
            </a:br>
            <a:endParaRPr b="0" lang="en-US" sz="1200" spc="-1" strike="noStrike">
              <a:latin typeface="Arial"/>
            </a:endParaRPr>
          </a:p>
          <a:p>
            <a:pPr marL="216000" indent="-216000">
              <a:lnSpc>
                <a:spcPct val="100000"/>
              </a:lnSpc>
              <a:buNone/>
              <a:tabLst>
                <a:tab algn="l" pos="0"/>
              </a:tabLst>
            </a:pPr>
            <a:r>
              <a:rPr b="0" lang="en-US" sz="1100" spc="-1" strike="noStrike">
                <a:latin typeface="Courier New"/>
              </a:rPr>
              <a:t>TECHNICAL EXPLANATION &amp; REFERENCE:</a:t>
            </a:r>
            <a:br>
              <a:rPr sz="1100"/>
            </a:br>
            <a:r>
              <a:rPr b="0" lang="en-US" sz="1100" spc="-1" strike="noStrike">
                <a:latin typeface="Courier New"/>
              </a:rPr>
              <a:t>Owner: rw- (4+2+0=6), Group: --- (0), Others: --- (0). Restricts read and write access strictly to the owner (essential for SSH keys).</a:t>
            </a:r>
            <a:br>
              <a:rPr sz="1100"/>
            </a:br>
            <a:endParaRPr b="0" lang="en-US" sz="1100" spc="-1" strike="noStrike">
              <a:latin typeface="Arial"/>
            </a:endParaRPr>
          </a:p>
        </p:txBody>
      </p:sp>
      <p:sp>
        <p:nvSpPr>
          <p:cNvPr id="140" name="PlaceHolder 3"/>
          <p:cNvSpPr>
            <a:spLocks noGrp="1"/>
          </p:cNvSpPr>
          <p:nvPr>
            <p:ph type="sldNum" idx="12"/>
          </p:nvPr>
        </p:nvSpPr>
        <p:spPr>
          <a:xfrm>
            <a:off x="3884760" y="8685360"/>
            <a:ext cx="297072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6860117E-32E0-4922-8F2E-6BDC610460C2}"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sldImg"/>
          </p:nvPr>
        </p:nvSpPr>
        <p:spPr>
          <a:xfrm>
            <a:off x="1143000" y="685800"/>
            <a:ext cx="4570920" cy="3427920"/>
          </a:xfrm>
          <a:prstGeom prst="rect">
            <a:avLst/>
          </a:prstGeom>
          <a:ln w="0">
            <a:noFill/>
          </a:ln>
        </p:spPr>
      </p:sp>
      <p:sp>
        <p:nvSpPr>
          <p:cNvPr id="142" name="PlaceHolder 2"/>
          <p:cNvSpPr>
            <a:spLocks noGrp="1"/>
          </p:cNvSpPr>
          <p:nvPr>
            <p:ph type="body"/>
          </p:nvPr>
        </p:nvSpPr>
        <p:spPr>
          <a:xfrm>
            <a:off x="685800" y="4343400"/>
            <a:ext cx="5485320" cy="4113720"/>
          </a:xfrm>
          <a:prstGeom prst="rect">
            <a:avLst/>
          </a:prstGeom>
          <a:noFill/>
          <a:ln w="0">
            <a:noFill/>
          </a:ln>
        </p:spPr>
        <p:txBody>
          <a:bodyPr lIns="0" rIns="0" tIns="0" bIns="0" anchor="t">
            <a:noAutofit/>
          </a:bodyPr>
          <a:p>
            <a:pPr marL="216000" indent="-216000">
              <a:lnSpc>
                <a:spcPct val="100000"/>
              </a:lnSpc>
              <a:buNone/>
              <a:tabLst>
                <a:tab algn="l" pos="0"/>
              </a:tabLst>
            </a:pPr>
            <a:r>
              <a:rPr b="1" lang="en-US" sz="1200" spc="-1" strike="noStrike">
                <a:latin typeface="Courier New"/>
              </a:rPr>
              <a:t>========================================</a:t>
            </a:r>
            <a:br>
              <a:rPr sz="1200"/>
            </a:br>
            <a:r>
              <a:rPr b="1" lang="en-US" sz="1200" spc="-1" strike="noStrike">
                <a:latin typeface="Courier New"/>
              </a:rPr>
              <a:t>CORRECT ANSWER FOR QUESTION 04:</a:t>
            </a:r>
            <a:br>
              <a:rPr sz="1200"/>
            </a:br>
            <a:r>
              <a:rPr b="1" lang="en-US" sz="1200" spc="-1" strike="noStrike">
                <a:latin typeface="Courier New"/>
              </a:rPr>
              <a:t>--&gt; 666</a:t>
            </a:r>
            <a:br>
              <a:rPr sz="1200"/>
            </a:br>
            <a:r>
              <a:rPr b="1" lang="en-US" sz="1200" spc="-1" strike="noStrike">
                <a:latin typeface="Courier New"/>
              </a:rPr>
              <a:t>========================================</a:t>
            </a:r>
            <a:br>
              <a:rPr sz="1200"/>
            </a:br>
            <a:br>
              <a:rPr sz="1200"/>
            </a:br>
            <a:endParaRPr b="0" lang="en-US" sz="1200" spc="-1" strike="noStrike">
              <a:latin typeface="Arial"/>
            </a:endParaRPr>
          </a:p>
          <a:p>
            <a:pPr marL="216000" indent="-216000">
              <a:lnSpc>
                <a:spcPct val="100000"/>
              </a:lnSpc>
              <a:buNone/>
              <a:tabLst>
                <a:tab algn="l" pos="0"/>
              </a:tabLst>
            </a:pPr>
            <a:r>
              <a:rPr b="0" lang="en-US" sz="1100" spc="-1" strike="noStrike">
                <a:latin typeface="Courier New"/>
              </a:rPr>
              <a:t>TECHNICAL EXPLANATION &amp; REFERENCE:</a:t>
            </a:r>
            <a:br>
              <a:rPr sz="1100"/>
            </a:br>
            <a:r>
              <a:rPr b="0" lang="en-US" sz="1100" spc="-1" strike="noStrike">
                <a:latin typeface="Courier New"/>
              </a:rPr>
              <a:t>Owner: rw- (6), Group: rw- (6), Others: rw- (6). Grants read and write access to all users but blocks execution.</a:t>
            </a:r>
            <a:br>
              <a:rPr sz="1100"/>
            </a:br>
            <a:endParaRPr b="0" lang="en-US" sz="1100" spc="-1" strike="noStrike">
              <a:latin typeface="Arial"/>
            </a:endParaRPr>
          </a:p>
        </p:txBody>
      </p:sp>
      <p:sp>
        <p:nvSpPr>
          <p:cNvPr id="143" name="PlaceHolder 3"/>
          <p:cNvSpPr>
            <a:spLocks noGrp="1"/>
          </p:cNvSpPr>
          <p:nvPr>
            <p:ph type="sldNum" idx="13"/>
          </p:nvPr>
        </p:nvSpPr>
        <p:spPr>
          <a:xfrm>
            <a:off x="3884760" y="8685360"/>
            <a:ext cx="297072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9A226E98-B317-440A-AF34-7D1C8361A27D}"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sldImg"/>
          </p:nvPr>
        </p:nvSpPr>
        <p:spPr>
          <a:xfrm>
            <a:off x="1143000" y="685800"/>
            <a:ext cx="4570920" cy="3427920"/>
          </a:xfrm>
          <a:prstGeom prst="rect">
            <a:avLst/>
          </a:prstGeom>
          <a:ln w="0">
            <a:noFill/>
          </a:ln>
        </p:spPr>
      </p:sp>
      <p:sp>
        <p:nvSpPr>
          <p:cNvPr id="145" name="PlaceHolder 2"/>
          <p:cNvSpPr>
            <a:spLocks noGrp="1"/>
          </p:cNvSpPr>
          <p:nvPr>
            <p:ph type="body"/>
          </p:nvPr>
        </p:nvSpPr>
        <p:spPr>
          <a:xfrm>
            <a:off x="685800" y="4343400"/>
            <a:ext cx="5485320" cy="4113720"/>
          </a:xfrm>
          <a:prstGeom prst="rect">
            <a:avLst/>
          </a:prstGeom>
          <a:noFill/>
          <a:ln w="0">
            <a:noFill/>
          </a:ln>
        </p:spPr>
        <p:txBody>
          <a:bodyPr lIns="0" rIns="0" tIns="0" bIns="0" anchor="t">
            <a:noAutofit/>
          </a:bodyPr>
          <a:p>
            <a:pPr marL="216000" indent="-216000">
              <a:lnSpc>
                <a:spcPct val="100000"/>
              </a:lnSpc>
              <a:buNone/>
              <a:tabLst>
                <a:tab algn="l" pos="0"/>
              </a:tabLst>
            </a:pPr>
            <a:r>
              <a:rPr b="1" lang="en-US" sz="1200" spc="-1" strike="noStrike">
                <a:latin typeface="Courier New"/>
              </a:rPr>
              <a:t>========================================</a:t>
            </a:r>
            <a:br>
              <a:rPr sz="1200"/>
            </a:br>
            <a:r>
              <a:rPr b="1" lang="en-US" sz="1200" spc="-1" strike="noStrike">
                <a:latin typeface="Courier New"/>
              </a:rPr>
              <a:t>CORRECT ANSWER FOR QUESTION 05:</a:t>
            </a:r>
            <a:br>
              <a:rPr sz="1200"/>
            </a:br>
            <a:r>
              <a:rPr b="1" lang="en-US" sz="1200" spc="-1" strike="noStrike">
                <a:latin typeface="Courier New"/>
              </a:rPr>
              <a:t>--&gt; cd</a:t>
            </a:r>
            <a:br>
              <a:rPr sz="1200"/>
            </a:br>
            <a:r>
              <a:rPr b="1" lang="en-US" sz="1200" spc="-1" strike="noStrike">
                <a:latin typeface="Courier New"/>
              </a:rPr>
              <a:t>========================================</a:t>
            </a:r>
            <a:br>
              <a:rPr sz="1200"/>
            </a:br>
            <a:br>
              <a:rPr sz="1200"/>
            </a:br>
            <a:endParaRPr b="0" lang="en-US" sz="1200" spc="-1" strike="noStrike">
              <a:latin typeface="Arial"/>
            </a:endParaRPr>
          </a:p>
          <a:p>
            <a:pPr marL="216000" indent="-216000">
              <a:lnSpc>
                <a:spcPct val="100000"/>
              </a:lnSpc>
              <a:buNone/>
              <a:tabLst>
                <a:tab algn="l" pos="0"/>
              </a:tabLst>
            </a:pPr>
            <a:r>
              <a:rPr b="0" lang="en-US" sz="1100" spc="-1" strike="noStrike">
                <a:latin typeface="Courier New"/>
              </a:rPr>
              <a:t>TECHNICAL EXPLANATION &amp; REFERENCE:</a:t>
            </a:r>
            <a:br>
              <a:rPr sz="1100"/>
            </a:br>
            <a:r>
              <a:rPr b="0" lang="en-US" sz="1100" spc="-1" strike="noStrike">
                <a:latin typeface="Courier New"/>
              </a:rPr>
              <a:t>Usage: cd /path/to/directory. Part of standard shell navigation.</a:t>
            </a:r>
            <a:br>
              <a:rPr sz="1100"/>
            </a:br>
            <a:endParaRPr b="0" lang="en-US" sz="1100" spc="-1" strike="noStrike">
              <a:latin typeface="Arial"/>
            </a:endParaRPr>
          </a:p>
        </p:txBody>
      </p:sp>
      <p:sp>
        <p:nvSpPr>
          <p:cNvPr id="146" name="PlaceHolder 3"/>
          <p:cNvSpPr>
            <a:spLocks noGrp="1"/>
          </p:cNvSpPr>
          <p:nvPr>
            <p:ph type="sldNum" idx="14"/>
          </p:nvPr>
        </p:nvSpPr>
        <p:spPr>
          <a:xfrm>
            <a:off x="3884760" y="8685360"/>
            <a:ext cx="297072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47D476C-A1B2-4988-8C5D-E839E4DE57F7}"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sldImg"/>
          </p:nvPr>
        </p:nvSpPr>
        <p:spPr>
          <a:xfrm>
            <a:off x="1143000" y="685800"/>
            <a:ext cx="4570920" cy="3427920"/>
          </a:xfrm>
          <a:prstGeom prst="rect">
            <a:avLst/>
          </a:prstGeom>
          <a:ln w="0">
            <a:noFill/>
          </a:ln>
        </p:spPr>
      </p:sp>
      <p:sp>
        <p:nvSpPr>
          <p:cNvPr id="148" name="PlaceHolder 2"/>
          <p:cNvSpPr>
            <a:spLocks noGrp="1"/>
          </p:cNvSpPr>
          <p:nvPr>
            <p:ph type="body"/>
          </p:nvPr>
        </p:nvSpPr>
        <p:spPr>
          <a:xfrm>
            <a:off x="685800" y="4343400"/>
            <a:ext cx="5485320" cy="4113720"/>
          </a:xfrm>
          <a:prstGeom prst="rect">
            <a:avLst/>
          </a:prstGeom>
          <a:noFill/>
          <a:ln w="0">
            <a:noFill/>
          </a:ln>
        </p:spPr>
        <p:txBody>
          <a:bodyPr lIns="0" rIns="0" tIns="0" bIns="0" anchor="t">
            <a:noAutofit/>
          </a:bodyPr>
          <a:p>
            <a:pPr marL="216000" indent="-216000">
              <a:lnSpc>
                <a:spcPct val="100000"/>
              </a:lnSpc>
              <a:buNone/>
              <a:tabLst>
                <a:tab algn="l" pos="0"/>
              </a:tabLst>
            </a:pPr>
            <a:r>
              <a:rPr b="1" lang="en-US" sz="1200" spc="-1" strike="noStrike">
                <a:latin typeface="Courier New"/>
              </a:rPr>
              <a:t>========================================</a:t>
            </a:r>
            <a:br>
              <a:rPr sz="1200"/>
            </a:br>
            <a:r>
              <a:rPr b="1" lang="en-US" sz="1200" spc="-1" strike="noStrike">
                <a:latin typeface="Courier New"/>
              </a:rPr>
              <a:t>CORRECT ANSWER FOR QUESTION 06:</a:t>
            </a:r>
            <a:br>
              <a:rPr sz="1200"/>
            </a:br>
            <a:r>
              <a:rPr b="1" lang="en-US" sz="1200" spc="-1" strike="noStrike">
                <a:latin typeface="Courier New"/>
              </a:rPr>
              <a:t>--&gt; ls -a</a:t>
            </a:r>
            <a:br>
              <a:rPr sz="1200"/>
            </a:br>
            <a:r>
              <a:rPr b="1" lang="en-US" sz="1200" spc="-1" strike="noStrike">
                <a:latin typeface="Courier New"/>
              </a:rPr>
              <a:t>========================================</a:t>
            </a:r>
            <a:br>
              <a:rPr sz="1200"/>
            </a:br>
            <a:br>
              <a:rPr sz="1200"/>
            </a:br>
            <a:endParaRPr b="0" lang="en-US" sz="1200" spc="-1" strike="noStrike">
              <a:latin typeface="Arial"/>
            </a:endParaRPr>
          </a:p>
          <a:p>
            <a:pPr marL="216000" indent="-216000">
              <a:lnSpc>
                <a:spcPct val="100000"/>
              </a:lnSpc>
              <a:buNone/>
              <a:tabLst>
                <a:tab algn="l" pos="0"/>
              </a:tabLst>
            </a:pPr>
            <a:r>
              <a:rPr b="0" lang="en-US" sz="1100" spc="-1" strike="noStrike">
                <a:latin typeface="Courier New"/>
              </a:rPr>
              <a:t>TECHNICAL EXPLANATION &amp; REFERENCE:</a:t>
            </a:r>
            <a:br>
              <a:rPr sz="1100"/>
            </a:br>
            <a:r>
              <a:rPr b="0" lang="en-US" sz="1100" spc="-1" strike="noStrike">
                <a:latin typeface="Courier New"/>
              </a:rPr>
              <a:t>The -a (all) option tells ls to list entries starting with . (which are hidden by default in Linux/Unix).</a:t>
            </a:r>
            <a:br>
              <a:rPr sz="1100"/>
            </a:br>
            <a:endParaRPr b="0" lang="en-US" sz="1100" spc="-1" strike="noStrike">
              <a:latin typeface="Arial"/>
            </a:endParaRPr>
          </a:p>
        </p:txBody>
      </p:sp>
      <p:sp>
        <p:nvSpPr>
          <p:cNvPr id="149" name="PlaceHolder 3"/>
          <p:cNvSpPr>
            <a:spLocks noGrp="1"/>
          </p:cNvSpPr>
          <p:nvPr>
            <p:ph type="sldNum" idx="15"/>
          </p:nvPr>
        </p:nvSpPr>
        <p:spPr>
          <a:xfrm>
            <a:off x="3884760" y="8685360"/>
            <a:ext cx="297072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E181AF9C-7C6B-46A3-84C1-FD345FA66EF7}"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sldImg"/>
          </p:nvPr>
        </p:nvSpPr>
        <p:spPr>
          <a:xfrm>
            <a:off x="1143000" y="685800"/>
            <a:ext cx="4570920" cy="3427920"/>
          </a:xfrm>
          <a:prstGeom prst="rect">
            <a:avLst/>
          </a:prstGeom>
          <a:ln w="0">
            <a:noFill/>
          </a:ln>
        </p:spPr>
      </p:sp>
      <p:sp>
        <p:nvSpPr>
          <p:cNvPr id="151" name="PlaceHolder 2"/>
          <p:cNvSpPr>
            <a:spLocks noGrp="1"/>
          </p:cNvSpPr>
          <p:nvPr>
            <p:ph type="body"/>
          </p:nvPr>
        </p:nvSpPr>
        <p:spPr>
          <a:xfrm>
            <a:off x="685800" y="4343400"/>
            <a:ext cx="5485320" cy="4113720"/>
          </a:xfrm>
          <a:prstGeom prst="rect">
            <a:avLst/>
          </a:prstGeom>
          <a:noFill/>
          <a:ln w="0">
            <a:noFill/>
          </a:ln>
        </p:spPr>
        <p:txBody>
          <a:bodyPr lIns="0" rIns="0" tIns="0" bIns="0" anchor="t">
            <a:noAutofit/>
          </a:bodyPr>
          <a:p>
            <a:pPr marL="216000" indent="-216000">
              <a:lnSpc>
                <a:spcPct val="100000"/>
              </a:lnSpc>
              <a:buNone/>
              <a:tabLst>
                <a:tab algn="l" pos="0"/>
              </a:tabLst>
            </a:pPr>
            <a:r>
              <a:rPr b="1" lang="en-US" sz="1200" spc="-1" strike="noStrike">
                <a:latin typeface="Courier New"/>
              </a:rPr>
              <a:t>========================================</a:t>
            </a:r>
            <a:br>
              <a:rPr sz="1200"/>
            </a:br>
            <a:r>
              <a:rPr b="1" lang="en-US" sz="1200" spc="-1" strike="noStrike">
                <a:latin typeface="Courier New"/>
              </a:rPr>
              <a:t>CORRECT ANSWER FOR QUESTION 07:</a:t>
            </a:r>
            <a:br>
              <a:rPr sz="1200"/>
            </a:br>
            <a:r>
              <a:rPr b="1" lang="en-US" sz="1200" spc="-1" strike="noStrike">
                <a:latin typeface="Courier New"/>
              </a:rPr>
              <a:t>--&gt; grep</a:t>
            </a:r>
            <a:br>
              <a:rPr sz="1200"/>
            </a:br>
            <a:r>
              <a:rPr b="1" lang="en-US" sz="1200" spc="-1" strike="noStrike">
                <a:latin typeface="Courier New"/>
              </a:rPr>
              <a:t>========================================</a:t>
            </a:r>
            <a:br>
              <a:rPr sz="1200"/>
            </a:br>
            <a:br>
              <a:rPr sz="1200"/>
            </a:br>
            <a:endParaRPr b="0" lang="en-US" sz="1200" spc="-1" strike="noStrike">
              <a:latin typeface="Arial"/>
            </a:endParaRPr>
          </a:p>
          <a:p>
            <a:pPr marL="216000" indent="-216000">
              <a:lnSpc>
                <a:spcPct val="100000"/>
              </a:lnSpc>
              <a:buNone/>
              <a:tabLst>
                <a:tab algn="l" pos="0"/>
              </a:tabLst>
            </a:pPr>
            <a:r>
              <a:rPr b="0" lang="en-US" sz="1100" spc="-1" strike="noStrike">
                <a:latin typeface="Courier New"/>
              </a:rPr>
              <a:t>TECHNICAL EXPLANATION &amp; REFERENCE:</a:t>
            </a:r>
            <a:br>
              <a:rPr sz="1100"/>
            </a:br>
            <a:r>
              <a:rPr b="0" lang="en-US" sz="1100" spc="-1" strike="noStrike">
                <a:latin typeface="Courier New"/>
              </a:rPr>
              <a:t>Common pattern search tool. Example usage: grep -i "error" justdoit.log</a:t>
            </a:r>
            <a:br>
              <a:rPr sz="1100"/>
            </a:br>
            <a:endParaRPr b="0" lang="en-US" sz="1100" spc="-1" strike="noStrike">
              <a:latin typeface="Arial"/>
            </a:endParaRPr>
          </a:p>
        </p:txBody>
      </p:sp>
      <p:sp>
        <p:nvSpPr>
          <p:cNvPr id="152" name="PlaceHolder 3"/>
          <p:cNvSpPr>
            <a:spLocks noGrp="1"/>
          </p:cNvSpPr>
          <p:nvPr>
            <p:ph type="sldNum" idx="16"/>
          </p:nvPr>
        </p:nvSpPr>
        <p:spPr>
          <a:xfrm>
            <a:off x="3884760" y="8685360"/>
            <a:ext cx="297072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136779C8-FF2E-42E1-8625-B3E2BD9ECD98}"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sldImg"/>
          </p:nvPr>
        </p:nvSpPr>
        <p:spPr>
          <a:xfrm>
            <a:off x="1143000" y="685800"/>
            <a:ext cx="4570920" cy="3427920"/>
          </a:xfrm>
          <a:prstGeom prst="rect">
            <a:avLst/>
          </a:prstGeom>
          <a:ln w="0">
            <a:noFill/>
          </a:ln>
        </p:spPr>
      </p:sp>
      <p:sp>
        <p:nvSpPr>
          <p:cNvPr id="154" name="PlaceHolder 2"/>
          <p:cNvSpPr>
            <a:spLocks noGrp="1"/>
          </p:cNvSpPr>
          <p:nvPr>
            <p:ph type="body"/>
          </p:nvPr>
        </p:nvSpPr>
        <p:spPr>
          <a:xfrm>
            <a:off x="685800" y="4343400"/>
            <a:ext cx="5485320" cy="4113720"/>
          </a:xfrm>
          <a:prstGeom prst="rect">
            <a:avLst/>
          </a:prstGeom>
          <a:noFill/>
          <a:ln w="0">
            <a:noFill/>
          </a:ln>
        </p:spPr>
        <p:txBody>
          <a:bodyPr lIns="0" rIns="0" tIns="0" bIns="0" anchor="t">
            <a:noAutofit/>
          </a:bodyPr>
          <a:p>
            <a:pPr marL="216000" indent="-216000">
              <a:lnSpc>
                <a:spcPct val="100000"/>
              </a:lnSpc>
              <a:buNone/>
              <a:tabLst>
                <a:tab algn="l" pos="0"/>
              </a:tabLst>
            </a:pPr>
            <a:r>
              <a:rPr b="1" lang="en-US" sz="1200" spc="-1" strike="noStrike">
                <a:latin typeface="Courier New"/>
              </a:rPr>
              <a:t>========================================</a:t>
            </a:r>
            <a:br>
              <a:rPr sz="1200"/>
            </a:br>
            <a:r>
              <a:rPr b="1" lang="en-US" sz="1200" spc="-1" strike="noStrike">
                <a:latin typeface="Courier New"/>
              </a:rPr>
              <a:t>CORRECT ANSWER FOR QUESTION 08:</a:t>
            </a:r>
            <a:br>
              <a:rPr sz="1200"/>
            </a:br>
            <a:r>
              <a:rPr b="1" lang="en-US" sz="1200" spc="-1" strike="noStrike">
                <a:latin typeface="Courier New"/>
              </a:rPr>
              <a:t>--&gt; -i (case-insensitive) or -n (show line numbers)</a:t>
            </a:r>
            <a:br>
              <a:rPr sz="1200"/>
            </a:br>
            <a:r>
              <a:rPr b="1" lang="en-US" sz="1200" spc="-1" strike="noStrike">
                <a:latin typeface="Courier New"/>
              </a:rPr>
              <a:t>========================================</a:t>
            </a:r>
            <a:br>
              <a:rPr sz="1200"/>
            </a:br>
            <a:br>
              <a:rPr sz="1200"/>
            </a:br>
            <a:endParaRPr b="0" lang="en-US" sz="1200" spc="-1" strike="noStrike">
              <a:latin typeface="Arial"/>
            </a:endParaRPr>
          </a:p>
          <a:p>
            <a:pPr marL="216000" indent="-216000">
              <a:lnSpc>
                <a:spcPct val="100000"/>
              </a:lnSpc>
              <a:buNone/>
              <a:tabLst>
                <a:tab algn="l" pos="0"/>
              </a:tabLst>
            </a:pPr>
            <a:r>
              <a:rPr b="0" lang="en-US" sz="1100" spc="-1" strike="noStrike">
                <a:latin typeface="Courier New"/>
              </a:rPr>
              <a:t>TECHNICAL EXPLANATION &amp; REFERENCE:</a:t>
            </a:r>
            <a:br>
              <a:rPr sz="1100"/>
            </a:br>
            <a:r>
              <a:rPr b="0" lang="en-US" sz="1100" spc="-1" strike="noStrike">
                <a:latin typeface="Courier New"/>
              </a:rPr>
              <a:t>Using -i finds instances of 'error', 'ERROR', or 'Error'. Using -n prints corresponding line numbers for quick locating.</a:t>
            </a:r>
            <a:br>
              <a:rPr sz="1100"/>
            </a:br>
            <a:endParaRPr b="0" lang="en-US" sz="1100" spc="-1" strike="noStrike">
              <a:latin typeface="Arial"/>
            </a:endParaRPr>
          </a:p>
        </p:txBody>
      </p:sp>
      <p:sp>
        <p:nvSpPr>
          <p:cNvPr id="155" name="PlaceHolder 3"/>
          <p:cNvSpPr>
            <a:spLocks noGrp="1"/>
          </p:cNvSpPr>
          <p:nvPr>
            <p:ph type="sldNum" idx="17"/>
          </p:nvPr>
        </p:nvSpPr>
        <p:spPr>
          <a:xfrm>
            <a:off x="3884760" y="8685360"/>
            <a:ext cx="297072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3F4AA8D8-A4C5-4D0C-90D3-F187C2006CE3}"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sldImg"/>
          </p:nvPr>
        </p:nvSpPr>
        <p:spPr>
          <a:xfrm>
            <a:off x="1143000" y="685800"/>
            <a:ext cx="4570920" cy="3427920"/>
          </a:xfrm>
          <a:prstGeom prst="rect">
            <a:avLst/>
          </a:prstGeom>
          <a:ln w="0">
            <a:noFill/>
          </a:ln>
        </p:spPr>
      </p:sp>
      <p:sp>
        <p:nvSpPr>
          <p:cNvPr id="157" name="PlaceHolder 2"/>
          <p:cNvSpPr>
            <a:spLocks noGrp="1"/>
          </p:cNvSpPr>
          <p:nvPr>
            <p:ph type="body"/>
          </p:nvPr>
        </p:nvSpPr>
        <p:spPr>
          <a:xfrm>
            <a:off x="685800" y="4343400"/>
            <a:ext cx="5485320" cy="4113720"/>
          </a:xfrm>
          <a:prstGeom prst="rect">
            <a:avLst/>
          </a:prstGeom>
          <a:noFill/>
          <a:ln w="0">
            <a:noFill/>
          </a:ln>
        </p:spPr>
        <p:txBody>
          <a:bodyPr lIns="0" rIns="0" tIns="0" bIns="0" anchor="t">
            <a:noAutofit/>
          </a:bodyPr>
          <a:p>
            <a:pPr marL="216000" indent="-216000">
              <a:lnSpc>
                <a:spcPct val="100000"/>
              </a:lnSpc>
              <a:buNone/>
              <a:tabLst>
                <a:tab algn="l" pos="0"/>
              </a:tabLst>
            </a:pPr>
            <a:r>
              <a:rPr b="1" lang="en-US" sz="1200" spc="-1" strike="noStrike">
                <a:latin typeface="Courier New"/>
              </a:rPr>
              <a:t>========================================</a:t>
            </a:r>
            <a:br>
              <a:rPr sz="1200"/>
            </a:br>
            <a:r>
              <a:rPr b="1" lang="en-US" sz="1200" spc="-1" strike="noStrike">
                <a:latin typeface="Courier New"/>
              </a:rPr>
              <a:t>CORRECT ANSWER FOR QUESTION 09:</a:t>
            </a:r>
            <a:br>
              <a:rPr sz="1200"/>
            </a:br>
            <a:r>
              <a:rPr b="1" lang="en-US" sz="1200" spc="-1" strike="noStrike">
                <a:latin typeface="Courier New"/>
              </a:rPr>
              <a:t>--&gt; vi (or vim) and nano (or emacs)</a:t>
            </a:r>
            <a:br>
              <a:rPr sz="1200"/>
            </a:br>
            <a:r>
              <a:rPr b="1" lang="en-US" sz="1200" spc="-1" strike="noStrike">
                <a:latin typeface="Courier New"/>
              </a:rPr>
              <a:t>========================================</a:t>
            </a:r>
            <a:br>
              <a:rPr sz="1200"/>
            </a:br>
            <a:br>
              <a:rPr sz="1200"/>
            </a:br>
            <a:endParaRPr b="0" lang="en-US" sz="1200" spc="-1" strike="noStrike">
              <a:latin typeface="Arial"/>
            </a:endParaRPr>
          </a:p>
          <a:p>
            <a:pPr marL="216000" indent="-216000">
              <a:lnSpc>
                <a:spcPct val="100000"/>
              </a:lnSpc>
              <a:buNone/>
              <a:tabLst>
                <a:tab algn="l" pos="0"/>
              </a:tabLst>
            </a:pPr>
            <a:r>
              <a:rPr b="0" lang="en-US" sz="1100" spc="-1" strike="noStrike">
                <a:latin typeface="Courier New"/>
              </a:rPr>
              <a:t>TECHNICAL EXPLANATION &amp; REFERENCE:</a:t>
            </a:r>
            <a:br>
              <a:rPr sz="1100"/>
            </a:br>
            <a:r>
              <a:rPr b="0" lang="en-US" sz="1100" spc="-1" strike="noStrike">
                <a:latin typeface="Courier New"/>
              </a:rPr>
              <a:t>vi is pre-installed on virtually all POSIX systems; nano is a lightweight, beginner-friendly terminal editor.</a:t>
            </a:r>
            <a:br>
              <a:rPr sz="1100"/>
            </a:br>
            <a:endParaRPr b="0" lang="en-US" sz="1100" spc="-1" strike="noStrike">
              <a:latin typeface="Arial"/>
            </a:endParaRPr>
          </a:p>
        </p:txBody>
      </p:sp>
      <p:sp>
        <p:nvSpPr>
          <p:cNvPr id="158" name="PlaceHolder 3"/>
          <p:cNvSpPr>
            <a:spLocks noGrp="1"/>
          </p:cNvSpPr>
          <p:nvPr>
            <p:ph type="sldNum" idx="18"/>
          </p:nvPr>
        </p:nvSpPr>
        <p:spPr>
          <a:xfrm>
            <a:off x="3884760" y="8685360"/>
            <a:ext cx="297072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2C3123DD-7CB6-4E6C-BBD2-123FD2F52FF9}"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sldImg"/>
          </p:nvPr>
        </p:nvSpPr>
        <p:spPr>
          <a:xfrm>
            <a:off x="1143000" y="685800"/>
            <a:ext cx="4570920" cy="3427920"/>
          </a:xfrm>
          <a:prstGeom prst="rect">
            <a:avLst/>
          </a:prstGeom>
          <a:ln w="0">
            <a:noFill/>
          </a:ln>
        </p:spPr>
      </p:sp>
      <p:sp>
        <p:nvSpPr>
          <p:cNvPr id="160" name="PlaceHolder 2"/>
          <p:cNvSpPr>
            <a:spLocks noGrp="1"/>
          </p:cNvSpPr>
          <p:nvPr>
            <p:ph type="body"/>
          </p:nvPr>
        </p:nvSpPr>
        <p:spPr>
          <a:xfrm>
            <a:off x="685800" y="4343400"/>
            <a:ext cx="5485320" cy="4113720"/>
          </a:xfrm>
          <a:prstGeom prst="rect">
            <a:avLst/>
          </a:prstGeom>
          <a:noFill/>
          <a:ln w="0">
            <a:noFill/>
          </a:ln>
        </p:spPr>
        <p:txBody>
          <a:bodyPr lIns="0" rIns="0" tIns="0" bIns="0" anchor="t">
            <a:noAutofit/>
          </a:bodyPr>
          <a:p>
            <a:pPr marL="216000" indent="-216000">
              <a:lnSpc>
                <a:spcPct val="100000"/>
              </a:lnSpc>
              <a:buNone/>
              <a:tabLst>
                <a:tab algn="l" pos="0"/>
              </a:tabLst>
            </a:pPr>
            <a:r>
              <a:rPr b="1" lang="en-US" sz="1200" spc="-1" strike="noStrike">
                <a:latin typeface="Courier New"/>
              </a:rPr>
              <a:t>========================================</a:t>
            </a:r>
            <a:br>
              <a:rPr sz="1200"/>
            </a:br>
            <a:r>
              <a:rPr b="1" lang="en-US" sz="1200" spc="-1" strike="noStrike">
                <a:latin typeface="Courier New"/>
              </a:rPr>
              <a:t>CORRECT ANSWER FOR QUESTION 10:</a:t>
            </a:r>
            <a:br>
              <a:rPr sz="1200"/>
            </a:br>
            <a:r>
              <a:rPr b="1" lang="en-US" sz="1200" spc="-1" strike="noStrike">
                <a:latin typeface="Courier New"/>
              </a:rPr>
              <a:t>--&gt; tail -n 20 (or tail -20)</a:t>
            </a:r>
            <a:br>
              <a:rPr sz="1200"/>
            </a:br>
            <a:r>
              <a:rPr b="1" lang="en-US" sz="1200" spc="-1" strike="noStrike">
                <a:latin typeface="Courier New"/>
              </a:rPr>
              <a:t>========================================</a:t>
            </a:r>
            <a:br>
              <a:rPr sz="1200"/>
            </a:br>
            <a:br>
              <a:rPr sz="1200"/>
            </a:br>
            <a:endParaRPr b="0" lang="en-US" sz="1200" spc="-1" strike="noStrike">
              <a:latin typeface="Arial"/>
            </a:endParaRPr>
          </a:p>
          <a:p>
            <a:pPr marL="216000" indent="-216000">
              <a:lnSpc>
                <a:spcPct val="100000"/>
              </a:lnSpc>
              <a:buNone/>
              <a:tabLst>
                <a:tab algn="l" pos="0"/>
              </a:tabLst>
            </a:pPr>
            <a:r>
              <a:rPr b="0" lang="en-US" sz="1100" spc="-1" strike="noStrike">
                <a:latin typeface="Courier New"/>
              </a:rPr>
              <a:t>TECHNICAL EXPLANATION &amp; REFERENCE:</a:t>
            </a:r>
            <a:br>
              <a:rPr sz="1100"/>
            </a:br>
            <a:r>
              <a:rPr b="0" lang="en-US" sz="1100" spc="-1" strike="noStrike">
                <a:latin typeface="Courier New"/>
              </a:rPr>
              <a:t>tail reads from the end of a file. It keeps resource usage extremely low compared to opening a massive file with a standard editor.</a:t>
            </a:r>
            <a:br>
              <a:rPr sz="1100"/>
            </a:br>
            <a:endParaRPr b="0" lang="en-US" sz="1100" spc="-1" strike="noStrike">
              <a:latin typeface="Arial"/>
            </a:endParaRPr>
          </a:p>
        </p:txBody>
      </p:sp>
      <p:sp>
        <p:nvSpPr>
          <p:cNvPr id="161" name="PlaceHolder 3"/>
          <p:cNvSpPr>
            <a:spLocks noGrp="1"/>
          </p:cNvSpPr>
          <p:nvPr>
            <p:ph type="sldNum" idx="19"/>
          </p:nvPr>
        </p:nvSpPr>
        <p:spPr>
          <a:xfrm>
            <a:off x="3884760" y="8685360"/>
            <a:ext cx="297072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E1AE7517-7766-4F1E-ADAB-59BA2299E003}"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sldImg"/>
          </p:nvPr>
        </p:nvSpPr>
        <p:spPr>
          <a:xfrm>
            <a:off x="1143000" y="685800"/>
            <a:ext cx="4570920" cy="3427920"/>
          </a:xfrm>
          <a:prstGeom prst="rect">
            <a:avLst/>
          </a:prstGeom>
          <a:ln w="0">
            <a:noFill/>
          </a:ln>
        </p:spPr>
      </p:sp>
      <p:sp>
        <p:nvSpPr>
          <p:cNvPr id="163" name="PlaceHolder 2"/>
          <p:cNvSpPr>
            <a:spLocks noGrp="1"/>
          </p:cNvSpPr>
          <p:nvPr>
            <p:ph type="body"/>
          </p:nvPr>
        </p:nvSpPr>
        <p:spPr>
          <a:xfrm>
            <a:off x="685800" y="4343400"/>
            <a:ext cx="5485320" cy="4113720"/>
          </a:xfrm>
          <a:prstGeom prst="rect">
            <a:avLst/>
          </a:prstGeom>
          <a:noFill/>
          <a:ln w="0">
            <a:noFill/>
          </a:ln>
        </p:spPr>
        <p:txBody>
          <a:bodyPr lIns="0" rIns="0" tIns="0" bIns="0" anchor="t">
            <a:noAutofit/>
          </a:bodyPr>
          <a:p>
            <a:pPr marL="216000" indent="-216000">
              <a:lnSpc>
                <a:spcPct val="100000"/>
              </a:lnSpc>
              <a:buNone/>
              <a:tabLst>
                <a:tab algn="l" pos="0"/>
              </a:tabLst>
            </a:pPr>
            <a:r>
              <a:rPr b="1" lang="en-US" sz="1200" spc="-1" strike="noStrike">
                <a:latin typeface="Courier New"/>
              </a:rPr>
              <a:t>========================================</a:t>
            </a:r>
            <a:br>
              <a:rPr sz="1200"/>
            </a:br>
            <a:r>
              <a:rPr b="1" lang="en-US" sz="1200" spc="-1" strike="noStrike">
                <a:latin typeface="Courier New"/>
              </a:rPr>
              <a:t>CORRECT ANSWER FOR QUESTION 11:</a:t>
            </a:r>
            <a:br>
              <a:rPr sz="1200"/>
            </a:br>
            <a:r>
              <a:rPr b="1" lang="en-US" sz="1200" spc="-1" strike="noStrike">
                <a:latin typeface="Courier New"/>
              </a:rPr>
              <a:t>--&gt; ssh (Secure Shell)</a:t>
            </a:r>
            <a:br>
              <a:rPr sz="1200"/>
            </a:br>
            <a:r>
              <a:rPr b="1" lang="en-US" sz="1200" spc="-1" strike="noStrike">
                <a:latin typeface="Courier New"/>
              </a:rPr>
              <a:t>========================================</a:t>
            </a:r>
            <a:br>
              <a:rPr sz="1200"/>
            </a:br>
            <a:br>
              <a:rPr sz="1200"/>
            </a:br>
            <a:endParaRPr b="0" lang="en-US" sz="1200" spc="-1" strike="noStrike">
              <a:latin typeface="Arial"/>
            </a:endParaRPr>
          </a:p>
          <a:p>
            <a:pPr marL="216000" indent="-216000">
              <a:lnSpc>
                <a:spcPct val="100000"/>
              </a:lnSpc>
              <a:buNone/>
              <a:tabLst>
                <a:tab algn="l" pos="0"/>
              </a:tabLst>
            </a:pPr>
            <a:r>
              <a:rPr b="0" lang="en-US" sz="1100" spc="-1" strike="noStrike">
                <a:latin typeface="Courier New"/>
              </a:rPr>
              <a:t>TECHNICAL EXPLANATION &amp; REFERENCE:</a:t>
            </a:r>
            <a:br>
              <a:rPr sz="1100"/>
            </a:br>
            <a:r>
              <a:rPr b="0" lang="en-US" sz="1100" spc="-1" strike="noStrike">
                <a:latin typeface="Courier New"/>
              </a:rPr>
              <a:t>Usage: ssh username@hostname_or_ip. Establishes an encrypted secure terminal connection.</a:t>
            </a:r>
            <a:br>
              <a:rPr sz="1100"/>
            </a:br>
            <a:endParaRPr b="0" lang="en-US" sz="1100" spc="-1" strike="noStrike">
              <a:latin typeface="Arial"/>
            </a:endParaRPr>
          </a:p>
        </p:txBody>
      </p:sp>
      <p:sp>
        <p:nvSpPr>
          <p:cNvPr id="164" name="PlaceHolder 3"/>
          <p:cNvSpPr>
            <a:spLocks noGrp="1"/>
          </p:cNvSpPr>
          <p:nvPr>
            <p:ph type="sldNum" idx="20"/>
          </p:nvPr>
        </p:nvSpPr>
        <p:spPr>
          <a:xfrm>
            <a:off x="3884760" y="8685360"/>
            <a:ext cx="297072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360F92E2-D1DA-4630-9CE6-B7D4D19572F0}"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sldImg"/>
          </p:nvPr>
        </p:nvSpPr>
        <p:spPr>
          <a:xfrm>
            <a:off x="1143000" y="685800"/>
            <a:ext cx="4570920" cy="3427920"/>
          </a:xfrm>
          <a:prstGeom prst="rect">
            <a:avLst/>
          </a:prstGeom>
          <a:ln w="0">
            <a:noFill/>
          </a:ln>
        </p:spPr>
      </p:sp>
      <p:sp>
        <p:nvSpPr>
          <p:cNvPr id="166" name="PlaceHolder 2"/>
          <p:cNvSpPr>
            <a:spLocks noGrp="1"/>
          </p:cNvSpPr>
          <p:nvPr>
            <p:ph type="body"/>
          </p:nvPr>
        </p:nvSpPr>
        <p:spPr>
          <a:xfrm>
            <a:off x="685800" y="4343400"/>
            <a:ext cx="5485320" cy="4113720"/>
          </a:xfrm>
          <a:prstGeom prst="rect">
            <a:avLst/>
          </a:prstGeom>
          <a:noFill/>
          <a:ln w="0">
            <a:noFill/>
          </a:ln>
        </p:spPr>
        <p:txBody>
          <a:bodyPr lIns="0" rIns="0" tIns="0" bIns="0" anchor="t">
            <a:noAutofit/>
          </a:bodyPr>
          <a:p>
            <a:pPr marL="216000" indent="-216000">
              <a:lnSpc>
                <a:spcPct val="100000"/>
              </a:lnSpc>
              <a:buNone/>
              <a:tabLst>
                <a:tab algn="l" pos="0"/>
              </a:tabLst>
            </a:pPr>
            <a:r>
              <a:rPr b="1" lang="en-US" sz="1200" spc="-1" strike="noStrike">
                <a:latin typeface="Courier New"/>
              </a:rPr>
              <a:t>========================================</a:t>
            </a:r>
            <a:br>
              <a:rPr sz="1200"/>
            </a:br>
            <a:r>
              <a:rPr b="1" lang="en-US" sz="1200" spc="-1" strike="noStrike">
                <a:latin typeface="Courier New"/>
              </a:rPr>
              <a:t>CORRECT ANSWER FOR QUESTION 12:</a:t>
            </a:r>
            <a:br>
              <a:rPr sz="1200"/>
            </a:br>
            <a:r>
              <a:rPr b="1" lang="en-US" sz="1200" spc="-1" strike="noStrike">
                <a:latin typeface="Courier New"/>
              </a:rPr>
              <a:t>--&gt; Get-Service</a:t>
            </a:r>
            <a:br>
              <a:rPr sz="1200"/>
            </a:br>
            <a:r>
              <a:rPr b="1" lang="en-US" sz="1200" spc="-1" strike="noStrike">
                <a:latin typeface="Courier New"/>
              </a:rPr>
              <a:t>========================================</a:t>
            </a:r>
            <a:br>
              <a:rPr sz="1200"/>
            </a:br>
            <a:br>
              <a:rPr sz="1200"/>
            </a:br>
            <a:endParaRPr b="0" lang="en-US" sz="1200" spc="-1" strike="noStrike">
              <a:latin typeface="Arial"/>
            </a:endParaRPr>
          </a:p>
          <a:p>
            <a:pPr marL="216000" indent="-216000">
              <a:lnSpc>
                <a:spcPct val="100000"/>
              </a:lnSpc>
              <a:buNone/>
              <a:tabLst>
                <a:tab algn="l" pos="0"/>
              </a:tabLst>
            </a:pPr>
            <a:r>
              <a:rPr b="0" lang="en-US" sz="1100" spc="-1" strike="noStrike">
                <a:latin typeface="Courier New"/>
              </a:rPr>
              <a:t>TECHNICAL EXPLANATION &amp; REFERENCE:</a:t>
            </a:r>
            <a:br>
              <a:rPr sz="1100"/>
            </a:br>
            <a:r>
              <a:rPr b="0" lang="en-US" sz="1100" spc="-1" strike="noStrike">
                <a:latin typeface="Courier New"/>
              </a:rPr>
              <a:t>This Cmdlet retrieves the status (Running, Stopped, etc.) and registration details of Windows services.</a:t>
            </a:r>
            <a:br>
              <a:rPr sz="1100"/>
            </a:br>
            <a:endParaRPr b="0" lang="en-US" sz="1100" spc="-1" strike="noStrike">
              <a:latin typeface="Arial"/>
            </a:endParaRPr>
          </a:p>
        </p:txBody>
      </p:sp>
      <p:sp>
        <p:nvSpPr>
          <p:cNvPr id="167" name="PlaceHolder 3"/>
          <p:cNvSpPr>
            <a:spLocks noGrp="1"/>
          </p:cNvSpPr>
          <p:nvPr>
            <p:ph type="sldNum" idx="21"/>
          </p:nvPr>
        </p:nvSpPr>
        <p:spPr>
          <a:xfrm>
            <a:off x="3884760" y="8685360"/>
            <a:ext cx="297072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92D14439-E5A2-4C38-ABB8-BF86103B8088}"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sldImg"/>
          </p:nvPr>
        </p:nvSpPr>
        <p:spPr>
          <a:xfrm>
            <a:off x="1143000" y="685800"/>
            <a:ext cx="4570920" cy="3427920"/>
          </a:xfrm>
          <a:prstGeom prst="rect">
            <a:avLst/>
          </a:prstGeom>
          <a:ln w="0">
            <a:noFill/>
          </a:ln>
        </p:spPr>
      </p:sp>
      <p:sp>
        <p:nvSpPr>
          <p:cNvPr id="169" name="PlaceHolder 2"/>
          <p:cNvSpPr>
            <a:spLocks noGrp="1"/>
          </p:cNvSpPr>
          <p:nvPr>
            <p:ph type="body"/>
          </p:nvPr>
        </p:nvSpPr>
        <p:spPr>
          <a:xfrm>
            <a:off x="685800" y="4343400"/>
            <a:ext cx="5485320" cy="4113720"/>
          </a:xfrm>
          <a:prstGeom prst="rect">
            <a:avLst/>
          </a:prstGeom>
          <a:noFill/>
          <a:ln w="0">
            <a:noFill/>
          </a:ln>
        </p:spPr>
        <p:txBody>
          <a:bodyPr lIns="0" rIns="0" tIns="0" bIns="0" anchor="t">
            <a:noAutofit/>
          </a:bodyPr>
          <a:p>
            <a:pPr marL="216000" indent="-216000">
              <a:lnSpc>
                <a:spcPct val="100000"/>
              </a:lnSpc>
              <a:buNone/>
              <a:tabLst>
                <a:tab algn="l" pos="0"/>
              </a:tabLst>
            </a:pPr>
            <a:r>
              <a:rPr b="1" lang="en-US" sz="1200" spc="-1" strike="noStrike">
                <a:latin typeface="Courier New"/>
              </a:rPr>
              <a:t>========================================</a:t>
            </a:r>
            <a:br>
              <a:rPr sz="1200"/>
            </a:br>
            <a:r>
              <a:rPr b="1" lang="en-US" sz="1200" spc="-1" strike="noStrike">
                <a:latin typeface="Courier New"/>
              </a:rPr>
              <a:t>CORRECT ANSWER FOR QUESTION 13:</a:t>
            </a:r>
            <a:br>
              <a:rPr sz="1200"/>
            </a:br>
            <a:r>
              <a:rPr b="1" lang="en-US" sz="1200" spc="-1" strike="noStrike">
                <a:latin typeface="Courier New"/>
              </a:rPr>
              <a:t>--&gt; -Name (e.g., Get-Service -Name *postgres* or Get-Service -Name "postgresql*")</a:t>
            </a:r>
            <a:br>
              <a:rPr sz="1200"/>
            </a:br>
            <a:r>
              <a:rPr b="1" lang="en-US" sz="1200" spc="-1" strike="noStrike">
                <a:latin typeface="Courier New"/>
              </a:rPr>
              <a:t>========================================</a:t>
            </a:r>
            <a:br>
              <a:rPr sz="1200"/>
            </a:br>
            <a:br>
              <a:rPr sz="1200"/>
            </a:br>
            <a:endParaRPr b="0" lang="en-US" sz="1200" spc="-1" strike="noStrike">
              <a:latin typeface="Arial"/>
            </a:endParaRPr>
          </a:p>
          <a:p>
            <a:pPr marL="216000" indent="-216000">
              <a:lnSpc>
                <a:spcPct val="100000"/>
              </a:lnSpc>
              <a:buNone/>
              <a:tabLst>
                <a:tab algn="l" pos="0"/>
              </a:tabLst>
            </a:pPr>
            <a:r>
              <a:rPr b="0" lang="en-US" sz="1100" spc="-1" strike="noStrike">
                <a:latin typeface="Courier New"/>
              </a:rPr>
              <a:t>TECHNICAL EXPLANATION &amp; REFERENCE:</a:t>
            </a:r>
            <a:br>
              <a:rPr sz="1100"/>
            </a:br>
            <a:r>
              <a:rPr b="0" lang="en-US" sz="1100" spc="-1" strike="noStrike">
                <a:latin typeface="Courier New"/>
              </a:rPr>
              <a:t>The -Name parameter targets services by name, and supports wildcards (*) to match specific versions or variations.</a:t>
            </a:r>
            <a:br>
              <a:rPr sz="1100"/>
            </a:br>
            <a:endParaRPr b="0" lang="en-US" sz="1100" spc="-1" strike="noStrike">
              <a:latin typeface="Arial"/>
            </a:endParaRPr>
          </a:p>
        </p:txBody>
      </p:sp>
      <p:sp>
        <p:nvSpPr>
          <p:cNvPr id="170" name="PlaceHolder 3"/>
          <p:cNvSpPr>
            <a:spLocks noGrp="1"/>
          </p:cNvSpPr>
          <p:nvPr>
            <p:ph type="sldNum" idx="22"/>
          </p:nvPr>
        </p:nvSpPr>
        <p:spPr>
          <a:xfrm>
            <a:off x="3884760" y="8685360"/>
            <a:ext cx="297072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2313D5AC-8E91-41FB-BE60-A108EAAE638D}"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sldImg"/>
          </p:nvPr>
        </p:nvSpPr>
        <p:spPr>
          <a:xfrm>
            <a:off x="1143000" y="685800"/>
            <a:ext cx="4570920" cy="3427920"/>
          </a:xfrm>
          <a:prstGeom prst="rect">
            <a:avLst/>
          </a:prstGeom>
          <a:ln w="0">
            <a:noFill/>
          </a:ln>
        </p:spPr>
      </p:sp>
      <p:sp>
        <p:nvSpPr>
          <p:cNvPr id="172" name="PlaceHolder 2"/>
          <p:cNvSpPr>
            <a:spLocks noGrp="1"/>
          </p:cNvSpPr>
          <p:nvPr>
            <p:ph type="body"/>
          </p:nvPr>
        </p:nvSpPr>
        <p:spPr>
          <a:xfrm>
            <a:off x="685800" y="4343400"/>
            <a:ext cx="5485320" cy="4113720"/>
          </a:xfrm>
          <a:prstGeom prst="rect">
            <a:avLst/>
          </a:prstGeom>
          <a:noFill/>
          <a:ln w="0">
            <a:noFill/>
          </a:ln>
        </p:spPr>
        <p:txBody>
          <a:bodyPr lIns="0" rIns="0" tIns="0" bIns="0" anchor="t">
            <a:noAutofit/>
          </a:bodyPr>
          <a:p>
            <a:pPr marL="216000" indent="-216000">
              <a:lnSpc>
                <a:spcPct val="100000"/>
              </a:lnSpc>
              <a:buNone/>
              <a:tabLst>
                <a:tab algn="l" pos="0"/>
              </a:tabLst>
            </a:pPr>
            <a:r>
              <a:rPr b="1" lang="en-US" sz="1200" spc="-1" strike="noStrike">
                <a:latin typeface="Courier New"/>
              </a:rPr>
              <a:t>========================================</a:t>
            </a:r>
            <a:br>
              <a:rPr sz="1200"/>
            </a:br>
            <a:r>
              <a:rPr b="1" lang="en-US" sz="1200" spc="-1" strike="noStrike">
                <a:latin typeface="Courier New"/>
              </a:rPr>
              <a:t>CORRECT ANSWER FOR QUESTION 14:</a:t>
            </a:r>
            <a:br>
              <a:rPr sz="1200"/>
            </a:br>
            <a:r>
              <a:rPr b="1" lang="en-US" sz="1200" spc="-1" strike="noStrike">
                <a:latin typeface="Courier New"/>
              </a:rPr>
              <a:t>--&gt; Get-Process (or ps / gps aliases)</a:t>
            </a:r>
            <a:br>
              <a:rPr sz="1200"/>
            </a:br>
            <a:r>
              <a:rPr b="1" lang="en-US" sz="1200" spc="-1" strike="noStrike">
                <a:latin typeface="Courier New"/>
              </a:rPr>
              <a:t>========================================</a:t>
            </a:r>
            <a:br>
              <a:rPr sz="1200"/>
            </a:br>
            <a:br>
              <a:rPr sz="1200"/>
            </a:br>
            <a:endParaRPr b="0" lang="en-US" sz="1200" spc="-1" strike="noStrike">
              <a:latin typeface="Arial"/>
            </a:endParaRPr>
          </a:p>
          <a:p>
            <a:pPr marL="216000" indent="-216000">
              <a:lnSpc>
                <a:spcPct val="100000"/>
              </a:lnSpc>
              <a:buNone/>
              <a:tabLst>
                <a:tab algn="l" pos="0"/>
              </a:tabLst>
            </a:pPr>
            <a:r>
              <a:rPr b="0" lang="en-US" sz="1100" spc="-1" strike="noStrike">
                <a:latin typeface="Courier New"/>
              </a:rPr>
              <a:t>TECHNICAL EXPLANATION &amp; REFERENCE:</a:t>
            </a:r>
            <a:br>
              <a:rPr sz="1100"/>
            </a:br>
            <a:r>
              <a:rPr b="0" lang="en-US" sz="1100" spc="-1" strike="noStrike">
                <a:latin typeface="Courier New"/>
              </a:rPr>
              <a:t>Retrieves process structures for active running tasks, showing CPU, memory, and handle allocations.</a:t>
            </a:r>
            <a:br>
              <a:rPr sz="1100"/>
            </a:br>
            <a:endParaRPr b="0" lang="en-US" sz="1100" spc="-1" strike="noStrike">
              <a:latin typeface="Arial"/>
            </a:endParaRPr>
          </a:p>
        </p:txBody>
      </p:sp>
      <p:sp>
        <p:nvSpPr>
          <p:cNvPr id="173" name="PlaceHolder 3"/>
          <p:cNvSpPr>
            <a:spLocks noGrp="1"/>
          </p:cNvSpPr>
          <p:nvPr>
            <p:ph type="sldNum" idx="23"/>
          </p:nvPr>
        </p:nvSpPr>
        <p:spPr>
          <a:xfrm>
            <a:off x="3884760" y="8685360"/>
            <a:ext cx="297072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0C1D7B2-04FE-4F9F-929B-F6BDCED9AA56}"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sldImg"/>
          </p:nvPr>
        </p:nvSpPr>
        <p:spPr>
          <a:xfrm>
            <a:off x="1143000" y="685800"/>
            <a:ext cx="4570920" cy="3427920"/>
          </a:xfrm>
          <a:prstGeom prst="rect">
            <a:avLst/>
          </a:prstGeom>
          <a:ln w="0">
            <a:noFill/>
          </a:ln>
        </p:spPr>
      </p:sp>
      <p:sp>
        <p:nvSpPr>
          <p:cNvPr id="175" name="PlaceHolder 2"/>
          <p:cNvSpPr>
            <a:spLocks noGrp="1"/>
          </p:cNvSpPr>
          <p:nvPr>
            <p:ph type="body"/>
          </p:nvPr>
        </p:nvSpPr>
        <p:spPr>
          <a:xfrm>
            <a:off x="685800" y="4343400"/>
            <a:ext cx="5485320" cy="4113720"/>
          </a:xfrm>
          <a:prstGeom prst="rect">
            <a:avLst/>
          </a:prstGeom>
          <a:noFill/>
          <a:ln w="0">
            <a:noFill/>
          </a:ln>
        </p:spPr>
        <p:txBody>
          <a:bodyPr lIns="0" rIns="0" tIns="0" bIns="0" anchor="t">
            <a:noAutofit/>
          </a:bodyPr>
          <a:p>
            <a:pPr marL="216000" indent="-216000">
              <a:lnSpc>
                <a:spcPct val="100000"/>
              </a:lnSpc>
              <a:buNone/>
              <a:tabLst>
                <a:tab algn="l" pos="0"/>
              </a:tabLst>
            </a:pPr>
            <a:r>
              <a:rPr b="1" lang="en-US" sz="1200" spc="-1" strike="noStrike">
                <a:latin typeface="Courier New"/>
              </a:rPr>
              <a:t>========================================</a:t>
            </a:r>
            <a:br>
              <a:rPr sz="1200"/>
            </a:br>
            <a:r>
              <a:rPr b="1" lang="en-US" sz="1200" spc="-1" strike="noStrike">
                <a:latin typeface="Courier New"/>
              </a:rPr>
              <a:t>CORRECT ANSWER FOR QUESTION 15:</a:t>
            </a:r>
            <a:br>
              <a:rPr sz="1200"/>
            </a:br>
            <a:r>
              <a:rPr b="1" lang="en-US" sz="1200" spc="-1" strike="noStrike">
                <a:latin typeface="Courier New"/>
              </a:rPr>
              <a:t>--&gt; | (the vertical pipe symbol)</a:t>
            </a:r>
            <a:br>
              <a:rPr sz="1200"/>
            </a:br>
            <a:r>
              <a:rPr b="1" lang="en-US" sz="1200" spc="-1" strike="noStrike">
                <a:latin typeface="Courier New"/>
              </a:rPr>
              <a:t>========================================</a:t>
            </a:r>
            <a:br>
              <a:rPr sz="1200"/>
            </a:br>
            <a:br>
              <a:rPr sz="1200"/>
            </a:br>
            <a:endParaRPr b="0" lang="en-US" sz="1200" spc="-1" strike="noStrike">
              <a:latin typeface="Arial"/>
            </a:endParaRPr>
          </a:p>
          <a:p>
            <a:pPr marL="216000" indent="-216000">
              <a:lnSpc>
                <a:spcPct val="100000"/>
              </a:lnSpc>
              <a:buNone/>
              <a:tabLst>
                <a:tab algn="l" pos="0"/>
              </a:tabLst>
            </a:pPr>
            <a:r>
              <a:rPr b="0" lang="en-US" sz="1100" spc="-1" strike="noStrike">
                <a:latin typeface="Courier New"/>
              </a:rPr>
              <a:t>TECHNICAL EXPLANATION &amp; REFERENCE:</a:t>
            </a:r>
            <a:br>
              <a:rPr sz="1100"/>
            </a:br>
            <a:r>
              <a:rPr b="0" lang="en-US" sz="1100" spc="-1" strike="noStrike">
                <a:latin typeface="Courier New"/>
              </a:rPr>
              <a:t>Connects the standard output (stdout) of the preceding command to the standard input (stdin) of the following command.</a:t>
            </a:r>
            <a:br>
              <a:rPr sz="1100"/>
            </a:br>
            <a:endParaRPr b="0" lang="en-US" sz="1100" spc="-1" strike="noStrike">
              <a:latin typeface="Arial"/>
            </a:endParaRPr>
          </a:p>
        </p:txBody>
      </p:sp>
      <p:sp>
        <p:nvSpPr>
          <p:cNvPr id="176" name="PlaceHolder 3"/>
          <p:cNvSpPr>
            <a:spLocks noGrp="1"/>
          </p:cNvSpPr>
          <p:nvPr>
            <p:ph type="sldNum" idx="24"/>
          </p:nvPr>
        </p:nvSpPr>
        <p:spPr>
          <a:xfrm>
            <a:off x="3884760" y="8685360"/>
            <a:ext cx="297072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41BBC67-16EB-4C24-8D35-689AC70664D2}"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sldImg"/>
          </p:nvPr>
        </p:nvSpPr>
        <p:spPr>
          <a:xfrm>
            <a:off x="1143000" y="685800"/>
            <a:ext cx="4570920" cy="3427920"/>
          </a:xfrm>
          <a:prstGeom prst="rect">
            <a:avLst/>
          </a:prstGeom>
          <a:ln w="0">
            <a:noFill/>
          </a:ln>
        </p:spPr>
      </p:sp>
      <p:sp>
        <p:nvSpPr>
          <p:cNvPr id="178" name="PlaceHolder 2"/>
          <p:cNvSpPr>
            <a:spLocks noGrp="1"/>
          </p:cNvSpPr>
          <p:nvPr>
            <p:ph type="body"/>
          </p:nvPr>
        </p:nvSpPr>
        <p:spPr>
          <a:xfrm>
            <a:off x="685800" y="4343400"/>
            <a:ext cx="5485320" cy="4113720"/>
          </a:xfrm>
          <a:prstGeom prst="rect">
            <a:avLst/>
          </a:prstGeom>
          <a:noFill/>
          <a:ln w="0">
            <a:noFill/>
          </a:ln>
        </p:spPr>
        <p:txBody>
          <a:bodyPr lIns="0" rIns="0" tIns="0" bIns="0" anchor="t">
            <a:noAutofit/>
          </a:bodyPr>
          <a:p>
            <a:pPr marL="216000" indent="-216000">
              <a:lnSpc>
                <a:spcPct val="100000"/>
              </a:lnSpc>
              <a:buNone/>
              <a:tabLst>
                <a:tab algn="l" pos="0"/>
              </a:tabLst>
            </a:pPr>
            <a:r>
              <a:rPr b="1" lang="en-US" sz="1200" spc="-1" strike="noStrike">
                <a:latin typeface="Courier New"/>
              </a:rPr>
              <a:t>========================================</a:t>
            </a:r>
            <a:br>
              <a:rPr sz="1200"/>
            </a:br>
            <a:r>
              <a:rPr b="1" lang="en-US" sz="1200" spc="-1" strike="noStrike">
                <a:latin typeface="Courier New"/>
              </a:rPr>
              <a:t>CORRECT ANSWER FOR QUESTION 16:</a:t>
            </a:r>
            <a:br>
              <a:rPr sz="1200"/>
            </a:br>
            <a:r>
              <a:rPr b="1" lang="en-US" sz="1200" spc="-1" strike="noStrike">
                <a:latin typeface="Courier New"/>
              </a:rPr>
              <a:t>--&gt; pwd (Print Working Directory)</a:t>
            </a:r>
            <a:br>
              <a:rPr sz="1200"/>
            </a:br>
            <a:r>
              <a:rPr b="1" lang="en-US" sz="1200" spc="-1" strike="noStrike">
                <a:latin typeface="Courier New"/>
              </a:rPr>
              <a:t>========================================</a:t>
            </a:r>
            <a:br>
              <a:rPr sz="1200"/>
            </a:br>
            <a:br>
              <a:rPr sz="1200"/>
            </a:br>
            <a:endParaRPr b="0" lang="en-US" sz="1200" spc="-1" strike="noStrike">
              <a:latin typeface="Arial"/>
            </a:endParaRPr>
          </a:p>
          <a:p>
            <a:pPr marL="216000" indent="-216000">
              <a:lnSpc>
                <a:spcPct val="100000"/>
              </a:lnSpc>
              <a:buNone/>
              <a:tabLst>
                <a:tab algn="l" pos="0"/>
              </a:tabLst>
            </a:pPr>
            <a:r>
              <a:rPr b="0" lang="en-US" sz="1100" spc="-1" strike="noStrike">
                <a:latin typeface="Courier New"/>
              </a:rPr>
              <a:t>TECHNICAL EXPLANATION &amp; REFERENCE:</a:t>
            </a:r>
            <a:br>
              <a:rPr sz="1100"/>
            </a:br>
            <a:r>
              <a:rPr b="0" lang="en-US" sz="1100" spc="-1" strike="noStrike">
                <a:latin typeface="Courier New"/>
              </a:rPr>
              <a:t>Outputs the full absolute path of your active terminal working directory.</a:t>
            </a:r>
            <a:br>
              <a:rPr sz="1100"/>
            </a:br>
            <a:endParaRPr b="0" lang="en-US" sz="1100" spc="-1" strike="noStrike">
              <a:latin typeface="Arial"/>
            </a:endParaRPr>
          </a:p>
        </p:txBody>
      </p:sp>
      <p:sp>
        <p:nvSpPr>
          <p:cNvPr id="179" name="PlaceHolder 3"/>
          <p:cNvSpPr>
            <a:spLocks noGrp="1"/>
          </p:cNvSpPr>
          <p:nvPr>
            <p:ph type="sldNum" idx="25"/>
          </p:nvPr>
        </p:nvSpPr>
        <p:spPr>
          <a:xfrm>
            <a:off x="3884760" y="8685360"/>
            <a:ext cx="297072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FFD59C47-AAE2-4A33-BA91-BE6E372D7F69}"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sldImg"/>
          </p:nvPr>
        </p:nvSpPr>
        <p:spPr>
          <a:xfrm>
            <a:off x="1143000" y="685800"/>
            <a:ext cx="4570920" cy="3427920"/>
          </a:xfrm>
          <a:prstGeom prst="rect">
            <a:avLst/>
          </a:prstGeom>
          <a:ln w="0">
            <a:noFill/>
          </a:ln>
        </p:spPr>
      </p:sp>
      <p:sp>
        <p:nvSpPr>
          <p:cNvPr id="181" name="PlaceHolder 2"/>
          <p:cNvSpPr>
            <a:spLocks noGrp="1"/>
          </p:cNvSpPr>
          <p:nvPr>
            <p:ph type="body"/>
          </p:nvPr>
        </p:nvSpPr>
        <p:spPr>
          <a:xfrm>
            <a:off x="685800" y="4343400"/>
            <a:ext cx="5485320" cy="4113720"/>
          </a:xfrm>
          <a:prstGeom prst="rect">
            <a:avLst/>
          </a:prstGeom>
          <a:noFill/>
          <a:ln w="0">
            <a:noFill/>
          </a:ln>
        </p:spPr>
        <p:txBody>
          <a:bodyPr lIns="0" rIns="0" tIns="0" bIns="0" anchor="t">
            <a:noAutofit/>
          </a:bodyPr>
          <a:p>
            <a:pPr marL="216000" indent="-216000">
              <a:lnSpc>
                <a:spcPct val="100000"/>
              </a:lnSpc>
              <a:buNone/>
              <a:tabLst>
                <a:tab algn="l" pos="0"/>
              </a:tabLst>
            </a:pPr>
            <a:r>
              <a:rPr b="1" lang="en-US" sz="1200" spc="-1" strike="noStrike">
                <a:latin typeface="Courier New"/>
              </a:rPr>
              <a:t>========================================</a:t>
            </a:r>
            <a:br>
              <a:rPr sz="1200"/>
            </a:br>
            <a:r>
              <a:rPr b="1" lang="en-US" sz="1200" spc="-1" strike="noStrike">
                <a:latin typeface="Courier New"/>
              </a:rPr>
              <a:t>CORRECT ANSWER FOR QUESTION 17:</a:t>
            </a:r>
            <a:br>
              <a:rPr sz="1200"/>
            </a:br>
            <a:r>
              <a:rPr b="1" lang="en-US" sz="1200" spc="-1" strike="noStrike">
                <a:latin typeface="Courier New"/>
              </a:rPr>
              <a:t>--&gt; cd ~ (or cd alone)</a:t>
            </a:r>
            <a:br>
              <a:rPr sz="1200"/>
            </a:br>
            <a:r>
              <a:rPr b="1" lang="en-US" sz="1200" spc="-1" strike="noStrike">
                <a:latin typeface="Courier New"/>
              </a:rPr>
              <a:t>========================================</a:t>
            </a:r>
            <a:br>
              <a:rPr sz="1200"/>
            </a:br>
            <a:br>
              <a:rPr sz="1200"/>
            </a:br>
            <a:endParaRPr b="0" lang="en-US" sz="1200" spc="-1" strike="noStrike">
              <a:latin typeface="Arial"/>
            </a:endParaRPr>
          </a:p>
          <a:p>
            <a:pPr marL="216000" indent="-216000">
              <a:lnSpc>
                <a:spcPct val="100000"/>
              </a:lnSpc>
              <a:buNone/>
              <a:tabLst>
                <a:tab algn="l" pos="0"/>
              </a:tabLst>
            </a:pPr>
            <a:r>
              <a:rPr b="0" lang="en-US" sz="1100" spc="-1" strike="noStrike">
                <a:latin typeface="Courier New"/>
              </a:rPr>
              <a:t>TECHNICAL EXPLANATION &amp; REFERENCE:</a:t>
            </a:r>
            <a:br>
              <a:rPr sz="1100"/>
            </a:br>
            <a:r>
              <a:rPr b="0" lang="en-US" sz="1100" spc="-1" strike="noStrike">
                <a:latin typeface="Courier New"/>
              </a:rPr>
              <a:t>The tilde (~) represents the shortcut to the home path of the current logged-in user account.</a:t>
            </a:r>
            <a:br>
              <a:rPr sz="1100"/>
            </a:br>
            <a:endParaRPr b="0" lang="en-US" sz="1100" spc="-1" strike="noStrike">
              <a:latin typeface="Arial"/>
            </a:endParaRPr>
          </a:p>
        </p:txBody>
      </p:sp>
      <p:sp>
        <p:nvSpPr>
          <p:cNvPr id="182" name="PlaceHolder 3"/>
          <p:cNvSpPr>
            <a:spLocks noGrp="1"/>
          </p:cNvSpPr>
          <p:nvPr>
            <p:ph type="sldNum" idx="26"/>
          </p:nvPr>
        </p:nvSpPr>
        <p:spPr>
          <a:xfrm>
            <a:off x="3884760" y="8685360"/>
            <a:ext cx="297072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45E45308-1768-4B71-A7AD-159789F1BFD8}"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sldImg"/>
          </p:nvPr>
        </p:nvSpPr>
        <p:spPr>
          <a:xfrm>
            <a:off x="1143000" y="685800"/>
            <a:ext cx="4570920" cy="3427920"/>
          </a:xfrm>
          <a:prstGeom prst="rect">
            <a:avLst/>
          </a:prstGeom>
          <a:ln w="0">
            <a:noFill/>
          </a:ln>
        </p:spPr>
      </p:sp>
      <p:sp>
        <p:nvSpPr>
          <p:cNvPr id="184" name="PlaceHolder 2"/>
          <p:cNvSpPr>
            <a:spLocks noGrp="1"/>
          </p:cNvSpPr>
          <p:nvPr>
            <p:ph type="body"/>
          </p:nvPr>
        </p:nvSpPr>
        <p:spPr>
          <a:xfrm>
            <a:off x="685800" y="4343400"/>
            <a:ext cx="5485320" cy="4113720"/>
          </a:xfrm>
          <a:prstGeom prst="rect">
            <a:avLst/>
          </a:prstGeom>
          <a:noFill/>
          <a:ln w="0">
            <a:noFill/>
          </a:ln>
        </p:spPr>
        <p:txBody>
          <a:bodyPr lIns="0" rIns="0" tIns="0" bIns="0" anchor="t">
            <a:noAutofit/>
          </a:bodyPr>
          <a:p>
            <a:pPr marL="216000" indent="-216000">
              <a:lnSpc>
                <a:spcPct val="100000"/>
              </a:lnSpc>
              <a:buNone/>
              <a:tabLst>
                <a:tab algn="l" pos="0"/>
              </a:tabLst>
            </a:pPr>
            <a:r>
              <a:rPr b="1" lang="en-US" sz="1200" spc="-1" strike="noStrike">
                <a:latin typeface="Courier New"/>
              </a:rPr>
              <a:t>========================================</a:t>
            </a:r>
            <a:br>
              <a:rPr sz="1200"/>
            </a:br>
            <a:r>
              <a:rPr b="1" lang="en-US" sz="1200" spc="-1" strike="noStrike">
                <a:latin typeface="Courier New"/>
              </a:rPr>
              <a:t>CORRECT ANSWER FOR QUESTION 18:</a:t>
            </a:r>
            <a:br>
              <a:rPr sz="1200"/>
            </a:br>
            <a:r>
              <a:rPr b="1" lang="en-US" sz="1200" spc="-1" strike="noStrike">
                <a:latin typeface="Courier New"/>
              </a:rPr>
              <a:t>--&gt; mv (move)</a:t>
            </a:r>
            <a:br>
              <a:rPr sz="1200"/>
            </a:br>
            <a:r>
              <a:rPr b="1" lang="en-US" sz="1200" spc="-1" strike="noStrike">
                <a:latin typeface="Courier New"/>
              </a:rPr>
              <a:t>========================================</a:t>
            </a:r>
            <a:br>
              <a:rPr sz="1200"/>
            </a:br>
            <a:br>
              <a:rPr sz="1200"/>
            </a:br>
            <a:endParaRPr b="0" lang="en-US" sz="1200" spc="-1" strike="noStrike">
              <a:latin typeface="Arial"/>
            </a:endParaRPr>
          </a:p>
          <a:p>
            <a:pPr marL="216000" indent="-216000">
              <a:lnSpc>
                <a:spcPct val="100000"/>
              </a:lnSpc>
              <a:buNone/>
              <a:tabLst>
                <a:tab algn="l" pos="0"/>
              </a:tabLst>
            </a:pPr>
            <a:r>
              <a:rPr b="0" lang="en-US" sz="1100" spc="-1" strike="noStrike">
                <a:latin typeface="Courier New"/>
              </a:rPr>
              <a:t>TECHNICAL EXPLANATION &amp; REFERENCE:</a:t>
            </a:r>
            <a:br>
              <a:rPr sz="1100"/>
            </a:br>
            <a:r>
              <a:rPr b="0" lang="en-US" sz="1100" spc="-1" strike="noStrike">
                <a:latin typeface="Courier New"/>
              </a:rPr>
              <a:t>Unix/Linux filesystems rename files by moving them from the old path/name to a new path/name in the same directory (e.g., mv old.txt new.txt).</a:t>
            </a:r>
            <a:br>
              <a:rPr sz="1100"/>
            </a:br>
            <a:endParaRPr b="0" lang="en-US" sz="1100" spc="-1" strike="noStrike">
              <a:latin typeface="Arial"/>
            </a:endParaRPr>
          </a:p>
        </p:txBody>
      </p:sp>
      <p:sp>
        <p:nvSpPr>
          <p:cNvPr id="185" name="PlaceHolder 3"/>
          <p:cNvSpPr>
            <a:spLocks noGrp="1"/>
          </p:cNvSpPr>
          <p:nvPr>
            <p:ph type="sldNum" idx="27"/>
          </p:nvPr>
        </p:nvSpPr>
        <p:spPr>
          <a:xfrm>
            <a:off x="3884760" y="8685360"/>
            <a:ext cx="297072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00F557B-1BA0-47FD-97F3-AB3E9CE1C386}"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sldImg"/>
          </p:nvPr>
        </p:nvSpPr>
        <p:spPr>
          <a:xfrm>
            <a:off x="1143000" y="685800"/>
            <a:ext cx="4570920" cy="3427920"/>
          </a:xfrm>
          <a:prstGeom prst="rect">
            <a:avLst/>
          </a:prstGeom>
          <a:ln w="0">
            <a:noFill/>
          </a:ln>
        </p:spPr>
      </p:sp>
      <p:sp>
        <p:nvSpPr>
          <p:cNvPr id="187" name="PlaceHolder 2"/>
          <p:cNvSpPr>
            <a:spLocks noGrp="1"/>
          </p:cNvSpPr>
          <p:nvPr>
            <p:ph type="body"/>
          </p:nvPr>
        </p:nvSpPr>
        <p:spPr>
          <a:xfrm>
            <a:off x="685800" y="4343400"/>
            <a:ext cx="5485320" cy="4113720"/>
          </a:xfrm>
          <a:prstGeom prst="rect">
            <a:avLst/>
          </a:prstGeom>
          <a:noFill/>
          <a:ln w="0">
            <a:noFill/>
          </a:ln>
        </p:spPr>
        <p:txBody>
          <a:bodyPr lIns="0" rIns="0" tIns="0" bIns="0" anchor="t">
            <a:noAutofit/>
          </a:bodyPr>
          <a:p>
            <a:pPr marL="216000" indent="-216000">
              <a:lnSpc>
                <a:spcPct val="100000"/>
              </a:lnSpc>
              <a:buNone/>
              <a:tabLst>
                <a:tab algn="l" pos="0"/>
              </a:tabLst>
            </a:pPr>
            <a:r>
              <a:rPr b="1" lang="en-US" sz="1200" spc="-1" strike="noStrike">
                <a:latin typeface="Courier New"/>
              </a:rPr>
              <a:t>========================================</a:t>
            </a:r>
            <a:br>
              <a:rPr sz="1200"/>
            </a:br>
            <a:r>
              <a:rPr b="1" lang="en-US" sz="1200" spc="-1" strike="noStrike">
                <a:latin typeface="Courier New"/>
              </a:rPr>
              <a:t>CORRECT ANSWER FOR QUESTION 19:</a:t>
            </a:r>
            <a:br>
              <a:rPr sz="1200"/>
            </a:br>
            <a:r>
              <a:rPr b="1" lang="en-US" sz="1200" spc="-1" strike="noStrike">
                <a:latin typeface="Courier New"/>
              </a:rPr>
              <a:t>--&gt; False (for a single VM) / True (for a virtualization host/hypervisor)</a:t>
            </a:r>
            <a:br>
              <a:rPr sz="1200"/>
            </a:br>
            <a:r>
              <a:rPr b="1" lang="en-US" sz="1200" spc="-1" strike="noStrike">
                <a:latin typeface="Courier New"/>
              </a:rPr>
              <a:t>========================================</a:t>
            </a:r>
            <a:br>
              <a:rPr sz="1200"/>
            </a:br>
            <a:br>
              <a:rPr sz="1200"/>
            </a:br>
            <a:endParaRPr b="0" lang="en-US" sz="1200" spc="-1" strike="noStrike">
              <a:latin typeface="Arial"/>
            </a:endParaRPr>
          </a:p>
          <a:p>
            <a:pPr marL="216000" indent="-216000">
              <a:lnSpc>
                <a:spcPct val="100000"/>
              </a:lnSpc>
              <a:buNone/>
              <a:tabLst>
                <a:tab algn="l" pos="0"/>
              </a:tabLst>
            </a:pPr>
            <a:r>
              <a:rPr b="0" lang="en-US" sz="1100" spc="-1" strike="noStrike">
                <a:latin typeface="Courier New"/>
              </a:rPr>
              <a:t>TECHNICAL EXPLANATION &amp; REFERENCE:</a:t>
            </a:r>
            <a:br>
              <a:rPr sz="1100"/>
            </a:br>
            <a:r>
              <a:rPr b="0" lang="en-US" sz="1100" spc="-1" strike="noStrike">
                <a:latin typeface="Courier New"/>
              </a:rPr>
              <a:t>If 'a virtual' means a single VM, it is FALSE (it has one OS). If it refers to the hypervisor host environment, it is TRUE (it orchestrates multiple separate guest operating systems).</a:t>
            </a:r>
            <a:br>
              <a:rPr sz="1100"/>
            </a:br>
            <a:endParaRPr b="0" lang="en-US" sz="1100" spc="-1" strike="noStrike">
              <a:latin typeface="Arial"/>
            </a:endParaRPr>
          </a:p>
        </p:txBody>
      </p:sp>
      <p:sp>
        <p:nvSpPr>
          <p:cNvPr id="188" name="PlaceHolder 3"/>
          <p:cNvSpPr>
            <a:spLocks noGrp="1"/>
          </p:cNvSpPr>
          <p:nvPr>
            <p:ph type="sldNum" idx="28"/>
          </p:nvPr>
        </p:nvSpPr>
        <p:spPr>
          <a:xfrm>
            <a:off x="3884760" y="8685360"/>
            <a:ext cx="297072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7D48AF1B-FE1B-46CF-B9C4-8E378B146DC6}"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sldImg"/>
          </p:nvPr>
        </p:nvSpPr>
        <p:spPr>
          <a:xfrm>
            <a:off x="1143000" y="685800"/>
            <a:ext cx="4570920" cy="3427920"/>
          </a:xfrm>
          <a:prstGeom prst="rect">
            <a:avLst/>
          </a:prstGeom>
          <a:ln w="0">
            <a:noFill/>
          </a:ln>
        </p:spPr>
      </p:sp>
      <p:sp>
        <p:nvSpPr>
          <p:cNvPr id="190" name="PlaceHolder 2"/>
          <p:cNvSpPr>
            <a:spLocks noGrp="1"/>
          </p:cNvSpPr>
          <p:nvPr>
            <p:ph type="body"/>
          </p:nvPr>
        </p:nvSpPr>
        <p:spPr>
          <a:xfrm>
            <a:off x="685800" y="4343400"/>
            <a:ext cx="5485320" cy="4113720"/>
          </a:xfrm>
          <a:prstGeom prst="rect">
            <a:avLst/>
          </a:prstGeom>
          <a:noFill/>
          <a:ln w="0">
            <a:noFill/>
          </a:ln>
        </p:spPr>
        <p:txBody>
          <a:bodyPr lIns="0" rIns="0" tIns="0" bIns="0" anchor="t">
            <a:noAutofit/>
          </a:bodyPr>
          <a:p>
            <a:pPr marL="216000" indent="-216000">
              <a:lnSpc>
                <a:spcPct val="100000"/>
              </a:lnSpc>
              <a:buNone/>
              <a:tabLst>
                <a:tab algn="l" pos="0"/>
              </a:tabLst>
            </a:pPr>
            <a:r>
              <a:rPr b="1" lang="en-US" sz="1200" spc="-1" strike="noStrike">
                <a:latin typeface="Courier New"/>
              </a:rPr>
              <a:t>========================================</a:t>
            </a:r>
            <a:br>
              <a:rPr sz="1200"/>
            </a:br>
            <a:r>
              <a:rPr b="1" lang="en-US" sz="1200" spc="-1" strike="noStrike">
                <a:latin typeface="Courier New"/>
              </a:rPr>
              <a:t>CORRECT ANSWER FOR QUESTION 20:</a:t>
            </a:r>
            <a:br>
              <a:rPr sz="1200"/>
            </a:br>
            <a:r>
              <a:rPr b="1" lang="en-US" sz="1200" spc="-1" strike="noStrike">
                <a:latin typeface="Courier New"/>
              </a:rPr>
              <a:t>--&gt; False</a:t>
            </a:r>
            <a:br>
              <a:rPr sz="1200"/>
            </a:br>
            <a:r>
              <a:rPr b="1" lang="en-US" sz="1200" spc="-1" strike="noStrike">
                <a:latin typeface="Courier New"/>
              </a:rPr>
              <a:t>========================================</a:t>
            </a:r>
            <a:br>
              <a:rPr sz="1200"/>
            </a:br>
            <a:br>
              <a:rPr sz="1200"/>
            </a:br>
            <a:endParaRPr b="0" lang="en-US" sz="1200" spc="-1" strike="noStrike">
              <a:latin typeface="Arial"/>
            </a:endParaRPr>
          </a:p>
          <a:p>
            <a:pPr marL="216000" indent="-216000">
              <a:lnSpc>
                <a:spcPct val="100000"/>
              </a:lnSpc>
              <a:buNone/>
              <a:tabLst>
                <a:tab algn="l" pos="0"/>
              </a:tabLst>
            </a:pPr>
            <a:r>
              <a:rPr b="0" lang="en-US" sz="1100" spc="-1" strike="noStrike">
                <a:latin typeface="Courier New"/>
              </a:rPr>
              <a:t>TECHNICAL EXPLANATION &amp; REFERENCE:</a:t>
            </a:r>
            <a:br>
              <a:rPr sz="1100"/>
            </a:br>
            <a:r>
              <a:rPr b="0" lang="en-US" sz="1100" spc="-1" strike="noStrike">
                <a:latin typeface="Courier New"/>
              </a:rPr>
              <a:t>Containers do not manage the virtual machine's OS. Instead, they run directly on the host OS kernel and package application binaries and libraries, isolating processes.</a:t>
            </a:r>
            <a:br>
              <a:rPr sz="1100"/>
            </a:br>
            <a:endParaRPr b="0" lang="en-US" sz="1100" spc="-1" strike="noStrike">
              <a:latin typeface="Arial"/>
            </a:endParaRPr>
          </a:p>
        </p:txBody>
      </p:sp>
      <p:sp>
        <p:nvSpPr>
          <p:cNvPr id="191" name="PlaceHolder 3"/>
          <p:cNvSpPr>
            <a:spLocks noGrp="1"/>
          </p:cNvSpPr>
          <p:nvPr>
            <p:ph type="sldNum" idx="29"/>
          </p:nvPr>
        </p:nvSpPr>
        <p:spPr>
          <a:xfrm>
            <a:off x="3884760" y="8685360"/>
            <a:ext cx="297072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320BAA5-AB36-4C5F-AF00-F834F0B8028B}" type="slidenum">
              <a:rPr b="0" lang="en-US" sz="1200" spc="-1" strike="noStrike">
                <a:latin typeface="Times New Roman"/>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1F8BA86C-E3BA-4865-BE41-2945A7D42AEE}"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0C8DFC52-F908-4DA6-A0FE-68DAF69CD894}"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215CFEC3-E385-44E4-8428-8187197ACCDA}"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95B73C49-0AFF-45D4-8E98-87DDE9EBDC5A}"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8F21DE7A-0A46-4140-96E4-4F7F1F30D868}"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4680"/>
            <a:ext cx="8228520" cy="52945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FE283EE9-F466-41FE-B1C6-B5526B408B52}"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7FE18929-2DE3-42C2-82B2-FC6E8A6A953A}"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2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0D613A1C-EC9E-41B2-BA86-83F077109D47}"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9B8D7237-8C8A-4325-BE62-42F7D28F3A27}"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8"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F62584EB-6C71-42DC-9EAC-436C695F2A26}"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3"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56A610B6-23CD-4378-88D8-D745DFF56E19}"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5"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8"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9"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0"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56E9E587-79E8-4003-BAE5-67BA5419638C}" type="slidenum">
              <a:t>&lt;#&gt;</a:t>
            </a:fld>
          </a:p>
        </p:txBody>
      </p:sp>
      <p:sp>
        <p:nvSpPr>
          <p:cNvPr id="11" name="PlaceHolder 10"/>
          <p:cNvSpPr>
            <a:spLocks noGrp="1"/>
          </p:cNvSpPr>
          <p:nvPr>
            <p:ph type="dt" idx="3"/>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D8D6F35B-647C-4FEC-BD76-B6B65ACA53A2}"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7"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161219BB-C0BB-49D7-A678-141DA6B634A0}"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9"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BBA411B2-D72B-44E4-B7C0-F3E97D47B11F}"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2"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7AFC0C8A-25D1-46C7-BE72-742F6B50042F}"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93BDB881-B455-4F6C-80FD-6DBDB68696BA}"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8520" cy="52945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D12BB5E2-54BD-45ED-B556-49DE3A664C76}"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7"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8"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BB3AF64C-BE71-4210-8B67-1D79383CE783}"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6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2"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E5641B7B-631D-4E90-8C70-382A27E04C34}"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6"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A382A296-32F6-45AC-8FBA-A6FCE265EB76}"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8"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9"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FBBA64B6-0B91-4FC0-9ABC-F95C8C53075D}"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3"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4"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D7CA90FA-85A2-4151-B2EB-356F45234D43}" type="slidenum">
              <a:t>&lt;#&gt;</a:t>
            </a:fld>
          </a:p>
        </p:txBody>
      </p:sp>
      <p:sp>
        <p:nvSpPr>
          <p:cNvPr id="9" name="PlaceHolder 8"/>
          <p:cNvSpPr>
            <a:spLocks noGrp="1"/>
          </p:cNvSpPr>
          <p:nvPr>
            <p:ph type="dt" idx="6"/>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6"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7"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8"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9"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0"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1"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23ABF3C1-8E86-48EB-8BAC-80B78428599E}" type="slidenum">
              <a:t>&lt;#&gt;</a:t>
            </a:fld>
          </a:p>
        </p:txBody>
      </p:sp>
      <p:sp>
        <p:nvSpPr>
          <p:cNvPr id="11" name="PlaceHolder 10"/>
          <p:cNvSpPr>
            <a:spLocks noGrp="1"/>
          </p:cNvSpPr>
          <p:nvPr>
            <p:ph type="dt" idx="6"/>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r>
              <a:rPr b="0" lang="en-US" sz="1800" spc="-1" strike="noStrike">
                <a:latin typeface="Arial"/>
              </a:rPr>
              <a:t>Click to edit the title text format</a:t>
            </a:r>
            <a:endParaRPr b="0" lang="en-US" sz="1800" spc="-1" strike="noStrike">
              <a:latin typeface="Arial"/>
            </a:endParaRPr>
          </a:p>
        </p:txBody>
      </p:sp>
      <p:sp>
        <p:nvSpPr>
          <p:cNvPr id="1"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latin typeface="Arial"/>
              </a:rPr>
              <a:t>Click to edit the outline text format</a:t>
            </a:r>
            <a:endParaRPr b="0" lang="en-US" sz="1800" spc="-1" strike="noStrike">
              <a:latin typeface="Arial"/>
            </a:endParaRPr>
          </a:p>
          <a:p>
            <a:pPr lvl="1" marL="864000" indent="-324000">
              <a:spcBef>
                <a:spcPts val="1134"/>
              </a:spcBef>
              <a:buClr>
                <a:srgbClr val="000000"/>
              </a:buClr>
              <a:buSzPct val="75000"/>
              <a:buFont typeface="Symbol" charset="2"/>
              <a:buChar char=""/>
            </a:pPr>
            <a:r>
              <a:rPr b="0" lang="en-US" sz="1800" spc="-1" strike="noStrike">
                <a:latin typeface="Arial"/>
              </a:rPr>
              <a:t>Second Outline Level</a:t>
            </a:r>
            <a:endParaRPr b="0" lang="en-US" sz="1800" spc="-1" strike="noStrike">
              <a:latin typeface="Arial"/>
            </a:endParaRPr>
          </a:p>
          <a:p>
            <a:pPr lvl="2" marL="1296000" indent="-288000">
              <a:spcBef>
                <a:spcPts val="850"/>
              </a:spcBef>
              <a:buClr>
                <a:srgbClr val="000000"/>
              </a:buClr>
              <a:buSzPct val="45000"/>
              <a:buFont typeface="Wingdings" charset="2"/>
              <a:buChar char=""/>
            </a:pPr>
            <a:r>
              <a:rPr b="0" lang="en-US" sz="1800" spc="-1" strike="noStrike">
                <a:latin typeface="Arial"/>
              </a:rPr>
              <a:t>Third Outline Level</a:t>
            </a:r>
            <a:endParaRPr b="0" lang="en-US" sz="1800" spc="-1" strike="noStrike">
              <a:latin typeface="Arial"/>
            </a:endParaRPr>
          </a:p>
          <a:p>
            <a:pPr lvl="3" marL="1728000" indent="-216000">
              <a:spcBef>
                <a:spcPts val="567"/>
              </a:spcBef>
              <a:buClr>
                <a:srgbClr val="000000"/>
              </a:buClr>
              <a:buSzPct val="75000"/>
              <a:buFont typeface="Symbol" charset="2"/>
              <a:buChar char=""/>
            </a:pPr>
            <a:r>
              <a:rPr b="0" lang="en-US" sz="1800" spc="-1" strike="noStrike">
                <a:latin typeface="Arial"/>
              </a:rPr>
              <a:t>Fourth Outline Level</a:t>
            </a:r>
            <a:endParaRPr b="0" lang="en-US" sz="1800" spc="-1" strike="noStrike">
              <a:latin typeface="Arial"/>
            </a:endParaRPr>
          </a:p>
          <a:p>
            <a:pPr lvl="4" marL="2160000" indent="-216000">
              <a:spcBef>
                <a:spcPts val="283"/>
              </a:spcBef>
              <a:buClr>
                <a:srgbClr val="000000"/>
              </a:buClr>
              <a:buSzPct val="45000"/>
              <a:buFont typeface="Wingdings" charset="2"/>
              <a:buChar char=""/>
            </a:pPr>
            <a:r>
              <a:rPr b="0" lang="en-US" sz="1800" spc="-1" strike="noStrike">
                <a:latin typeface="Arial"/>
              </a:rPr>
              <a:t>Fifth Outline Level</a:t>
            </a:r>
            <a:endParaRPr b="0" lang="en-US" sz="1800" spc="-1" strike="noStrike">
              <a:latin typeface="Arial"/>
            </a:endParaRPr>
          </a:p>
          <a:p>
            <a:pPr lvl="5" marL="2592000" indent="-216000">
              <a:spcBef>
                <a:spcPts val="283"/>
              </a:spcBef>
              <a:buClr>
                <a:srgbClr val="000000"/>
              </a:buClr>
              <a:buSzPct val="45000"/>
              <a:buFont typeface="Wingdings" charset="2"/>
              <a:buChar char=""/>
            </a:pPr>
            <a:r>
              <a:rPr b="0" lang="en-US" sz="1800" spc="-1" strike="noStrike">
                <a:latin typeface="Arial"/>
              </a:rPr>
              <a:t>Sixth Outline Level</a:t>
            </a:r>
            <a:endParaRPr b="0" lang="en-US" sz="1800" spc="-1" strike="noStrike">
              <a:latin typeface="Arial"/>
            </a:endParaRPr>
          </a:p>
          <a:p>
            <a:pPr lvl="6" marL="3024000" indent="-216000">
              <a:spcBef>
                <a:spcPts val="283"/>
              </a:spcBef>
              <a:buClr>
                <a:srgbClr val="000000"/>
              </a:buClr>
              <a:buSzPct val="45000"/>
              <a:buFont typeface="Wingdings" charset="2"/>
              <a:buChar char=""/>
            </a:pPr>
            <a:r>
              <a:rPr b="0" lang="en-US" sz="1800" spc="-1" strike="noStrike">
                <a:latin typeface="Arial"/>
              </a:rPr>
              <a:t>Seventh Outline Level</a:t>
            </a:r>
            <a:endParaRPr b="0" lang="en-US" sz="1800" spc="-1" strike="noStrike">
              <a:latin typeface="Arial"/>
            </a:endParaRPr>
          </a:p>
        </p:txBody>
      </p:sp>
      <p:sp>
        <p:nvSpPr>
          <p:cNvPr id="2" name="PlaceHolder 3"/>
          <p:cNvSpPr>
            <a:spLocks noGrp="1"/>
          </p:cNvSpPr>
          <p:nvPr>
            <p:ph type="ftr" idx="1"/>
          </p:nvPr>
        </p:nvSpPr>
        <p:spPr>
          <a:xfrm>
            <a:off x="3124080" y="6356520"/>
            <a:ext cx="2894400" cy="363960"/>
          </a:xfrm>
          <a:prstGeom prst="rect">
            <a:avLst/>
          </a:prstGeom>
          <a:noFill/>
          <a:ln w="0">
            <a:noFill/>
          </a:ln>
        </p:spPr>
        <p:txBody>
          <a:bodyPr lIns="90000" rIns="90000" tIns="45000" bIns="45000" anchor="ctr">
            <a:noAutofit/>
          </a:bodyPr>
          <a:lstStyle>
            <a:lvl1pPr algn="ctr">
              <a:lnSpc>
                <a:spcPct val="100000"/>
              </a:lnSpc>
              <a:buNone/>
              <a:defRPr b="0" lang="en-US" sz="1400" spc="-1" strike="noStrike">
                <a:latin typeface="Times New Roman"/>
              </a:defRPr>
            </a:lvl1pPr>
          </a:lstStyle>
          <a:p>
            <a:pPr algn="ctr">
              <a:lnSpc>
                <a:spcPct val="100000"/>
              </a:lnSpc>
              <a:buNone/>
            </a:pPr>
            <a:r>
              <a:rPr b="0" lang="en-US" sz="1400" spc="-1" strike="noStrike">
                <a:latin typeface="Times New Roman"/>
              </a:rPr>
              <a:t>&lt;footer&gt;</a:t>
            </a:r>
            <a:endParaRPr b="0" lang="en-US" sz="1400" spc="-1" strike="noStrike">
              <a:latin typeface="Times New Roman"/>
            </a:endParaRPr>
          </a:p>
        </p:txBody>
      </p:sp>
      <p:sp>
        <p:nvSpPr>
          <p:cNvPr id="3" name="PlaceHolder 4"/>
          <p:cNvSpPr>
            <a:spLocks noGrp="1"/>
          </p:cNvSpPr>
          <p:nvPr>
            <p:ph type="sldNum" idx="2"/>
          </p:nvPr>
        </p:nvSpPr>
        <p:spPr>
          <a:xfrm>
            <a:off x="6553080" y="6356520"/>
            <a:ext cx="2132640" cy="363960"/>
          </a:xfrm>
          <a:prstGeom prst="rect">
            <a:avLst/>
          </a:prstGeom>
          <a:noFill/>
          <a:ln w="0">
            <a:noFill/>
          </a:ln>
        </p:spPr>
        <p:txBody>
          <a:bodyPr lIns="90000" rIns="90000" tIns="45000" bIns="45000"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7E31A696-BAB0-4773-9112-33463841E87B}" type="slidenum">
              <a:rPr b="0" lang="en-US" sz="1200" spc="-1" strike="noStrike">
                <a:solidFill>
                  <a:srgbClr val="8b8b8b"/>
                </a:solidFill>
                <a:latin typeface="Calibri"/>
              </a:rPr>
              <a:t>&lt;number&gt;</a:t>
            </a:fld>
            <a:endParaRPr b="0" lang="en-US" sz="1200" spc="-1" strike="noStrike">
              <a:latin typeface="Times New Roman"/>
            </a:endParaRPr>
          </a:p>
        </p:txBody>
      </p:sp>
      <p:sp>
        <p:nvSpPr>
          <p:cNvPr id="4" name="PlaceHolder 5"/>
          <p:cNvSpPr>
            <a:spLocks noGrp="1"/>
          </p:cNvSpPr>
          <p:nvPr>
            <p:ph type="dt" idx="3"/>
          </p:nvPr>
        </p:nvSpPr>
        <p:spPr>
          <a:xfrm>
            <a:off x="457200" y="6356520"/>
            <a:ext cx="2132640" cy="36396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r>
              <a:rPr b="0" lang="en-US" sz="1800" spc="-1" strike="noStrike">
                <a:latin typeface="Arial"/>
              </a:rPr>
              <a:t>Click to edit the title text format</a:t>
            </a:r>
            <a:endParaRPr b="0" lang="en-US" sz="1800" spc="-1" strike="noStrike">
              <a:latin typeface="Arial"/>
            </a:endParaRPr>
          </a:p>
        </p:txBody>
      </p:sp>
      <p:sp>
        <p:nvSpPr>
          <p:cNvPr id="42" name="PlaceHolder 2"/>
          <p:cNvSpPr>
            <a:spLocks noGrp="1"/>
          </p:cNvSpPr>
          <p:nvPr>
            <p:ph type="ftr" idx="4"/>
          </p:nvPr>
        </p:nvSpPr>
        <p:spPr>
          <a:xfrm>
            <a:off x="3124080" y="6356520"/>
            <a:ext cx="2894400" cy="363960"/>
          </a:xfrm>
          <a:prstGeom prst="rect">
            <a:avLst/>
          </a:prstGeom>
          <a:noFill/>
          <a:ln w="0">
            <a:noFill/>
          </a:ln>
        </p:spPr>
        <p:txBody>
          <a:bodyPr lIns="90000" rIns="90000" tIns="45000" bIns="45000" anchor="ctr">
            <a:noAutofit/>
          </a:bodyPr>
          <a:lstStyle>
            <a:lvl1pPr algn="ctr">
              <a:lnSpc>
                <a:spcPct val="100000"/>
              </a:lnSpc>
              <a:buNone/>
              <a:defRPr b="0" lang="en-US" sz="1400" spc="-1" strike="noStrike">
                <a:latin typeface="Times New Roman"/>
              </a:defRPr>
            </a:lvl1pPr>
          </a:lstStyle>
          <a:p>
            <a:pPr algn="ctr">
              <a:lnSpc>
                <a:spcPct val="100000"/>
              </a:lnSpc>
              <a:buNone/>
            </a:pPr>
            <a:r>
              <a:rPr b="0" lang="en-US" sz="1400" spc="-1" strike="noStrike">
                <a:latin typeface="Times New Roman"/>
              </a:rPr>
              <a:t>&lt;footer&gt;</a:t>
            </a:r>
            <a:endParaRPr b="0" lang="en-US" sz="1400" spc="-1" strike="noStrike">
              <a:latin typeface="Times New Roman"/>
            </a:endParaRPr>
          </a:p>
        </p:txBody>
      </p:sp>
      <p:sp>
        <p:nvSpPr>
          <p:cNvPr id="43" name="PlaceHolder 3"/>
          <p:cNvSpPr>
            <a:spLocks noGrp="1"/>
          </p:cNvSpPr>
          <p:nvPr>
            <p:ph type="sldNum" idx="5"/>
          </p:nvPr>
        </p:nvSpPr>
        <p:spPr>
          <a:xfrm>
            <a:off x="6553080" y="6356520"/>
            <a:ext cx="2132640" cy="363960"/>
          </a:xfrm>
          <a:prstGeom prst="rect">
            <a:avLst/>
          </a:prstGeom>
          <a:noFill/>
          <a:ln w="0">
            <a:noFill/>
          </a:ln>
        </p:spPr>
        <p:txBody>
          <a:bodyPr lIns="90000" rIns="90000" tIns="45000" bIns="45000"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02B828E7-D604-448F-8B49-76BED549E71F}" type="slidenum">
              <a:rPr b="0" lang="en-US" sz="1200" spc="-1" strike="noStrike">
                <a:solidFill>
                  <a:srgbClr val="8b8b8b"/>
                </a:solidFill>
                <a:latin typeface="Calibri"/>
              </a:rPr>
              <a:t>&lt;number&gt;</a:t>
            </a:fld>
            <a:endParaRPr b="0" lang="en-US" sz="1200" spc="-1" strike="noStrike">
              <a:latin typeface="Times New Roman"/>
            </a:endParaRPr>
          </a:p>
        </p:txBody>
      </p:sp>
      <p:sp>
        <p:nvSpPr>
          <p:cNvPr id="44" name="PlaceHolder 4"/>
          <p:cNvSpPr>
            <a:spLocks noGrp="1"/>
          </p:cNvSpPr>
          <p:nvPr>
            <p:ph type="dt" idx="6"/>
          </p:nvPr>
        </p:nvSpPr>
        <p:spPr>
          <a:xfrm>
            <a:off x="457200" y="6356520"/>
            <a:ext cx="2132640" cy="36396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45"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88" name="TextBox 3"/>
          <p:cNvSpPr/>
          <p:nvPr/>
        </p:nvSpPr>
        <p:spPr>
          <a:xfrm>
            <a:off x="914400" y="2011680"/>
            <a:ext cx="10361880" cy="18723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4400" spc="-1" strike="noStrike">
                <a:solidFill>
                  <a:srgbClr val="f8fafc"/>
                </a:solidFill>
                <a:latin typeface="Georgia"/>
                <a:ea typeface="DejaVu Sans"/>
              </a:rPr>
              <a:t>Git and Jenkins Review</a:t>
            </a:r>
            <a:endParaRPr b="0" lang="en-US" sz="4400" spc="-1" strike="noStrike">
              <a:latin typeface="Arial"/>
            </a:endParaRPr>
          </a:p>
          <a:p>
            <a:pPr algn="ctr">
              <a:lnSpc>
                <a:spcPct val="100000"/>
              </a:lnSpc>
              <a:spcBef>
                <a:spcPts val="1199"/>
              </a:spcBef>
              <a:buNone/>
            </a:pPr>
            <a:r>
              <a:rPr b="0" lang="en-US" sz="2000" spc="-1" strike="noStrike">
                <a:solidFill>
                  <a:srgbClr val="34d399"/>
                </a:solidFill>
                <a:latin typeface="Verdana"/>
                <a:ea typeface="DejaVu Sans"/>
              </a:rPr>
              <a:t>Practice Questions</a:t>
            </a:r>
            <a:endParaRPr b="0" lang="en-US" sz="2000" spc="-1" strike="noStrike">
              <a:latin typeface="Arial"/>
            </a:endParaRPr>
          </a:p>
          <a:p>
            <a:pPr algn="ctr">
              <a:lnSpc>
                <a:spcPct val="100000"/>
              </a:lnSpc>
              <a:spcBef>
                <a:spcPts val="3600"/>
              </a:spcBef>
              <a:buNone/>
            </a:pPr>
            <a:endParaRPr b="0" lang="en-US" sz="13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89" name="TextBox 2"/>
          <p:cNvSpPr/>
          <p:nvPr/>
        </p:nvSpPr>
        <p:spPr>
          <a:xfrm>
            <a:off x="914400" y="731520"/>
            <a:ext cx="10361880" cy="2876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300" spc="-1" strike="noStrike">
                <a:solidFill>
                  <a:srgbClr val="fbbf24"/>
                </a:solidFill>
                <a:latin typeface="Verdana"/>
                <a:ea typeface="DejaVu Sans"/>
              </a:rPr>
              <a:t>PRACTICE QUESTION 01 / 20</a:t>
            </a:r>
            <a:endParaRPr b="0" lang="en-US" sz="1300" spc="-1" strike="noStrike">
              <a:latin typeface="Arial"/>
            </a:endParaRPr>
          </a:p>
        </p:txBody>
      </p:sp>
      <p:sp>
        <p:nvSpPr>
          <p:cNvPr id="90" name="Rounded Rectangle 3"/>
          <p:cNvSpPr/>
          <p:nvPr/>
        </p:nvSpPr>
        <p:spPr>
          <a:xfrm>
            <a:off x="1295280" y="1645920"/>
            <a:ext cx="9600120" cy="3290760"/>
          </a:xfrm>
          <a:prstGeom prst="roundRect">
            <a:avLst>
              <a:gd name="adj" fmla="val 16667"/>
            </a:avLst>
          </a:prstGeom>
          <a:solidFill>
            <a:srgbClr val="1e293b"/>
          </a:solidFill>
          <a:ln w="19050">
            <a:solidFill>
              <a:srgbClr val="3341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buNone/>
            </a:pPr>
            <a:r>
              <a:rPr b="1" lang="en-US" sz="3000" spc="-1" strike="noStrike">
                <a:solidFill>
                  <a:srgbClr val="f8fafc"/>
                </a:solidFill>
                <a:latin typeface="Georgia"/>
                <a:ea typeface="DejaVu Sans"/>
              </a:rPr>
              <a:t>What would some of the reasons be to pick a multipipeline over a pipeline?</a:t>
            </a:r>
            <a:endParaRPr b="0" lang="en-US" sz="3000" spc="-1" strike="noStrike">
              <a:latin typeface="Arial"/>
            </a:endParaRPr>
          </a:p>
        </p:txBody>
      </p:sp>
      <p:sp>
        <p:nvSpPr>
          <p:cNvPr id="91" name="TextBox 4"/>
          <p:cNvSpPr/>
          <p:nvPr/>
        </p:nvSpPr>
        <p:spPr>
          <a:xfrm>
            <a:off x="3030840" y="5486400"/>
            <a:ext cx="6128640" cy="25704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1100" spc="-1" strike="noStrike">
                <a:solidFill>
                  <a:srgbClr val="94a3b8"/>
                </a:solidFill>
                <a:latin typeface="Verdana"/>
                <a:ea typeface="DejaVu Sans"/>
              </a:rPr>
              <a:t>Reveal your notes panel in PowerPoint or Google Slides to check the correct answer.</a:t>
            </a:r>
            <a:endParaRPr b="0" lang="en-US" sz="11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92" name="TextBox 2"/>
          <p:cNvSpPr/>
          <p:nvPr/>
        </p:nvSpPr>
        <p:spPr>
          <a:xfrm>
            <a:off x="914400" y="731520"/>
            <a:ext cx="10361880" cy="2876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300" spc="-1" strike="noStrike">
                <a:solidFill>
                  <a:srgbClr val="fbbf24"/>
                </a:solidFill>
                <a:latin typeface="Verdana"/>
                <a:ea typeface="DejaVu Sans"/>
              </a:rPr>
              <a:t>PRACTICE QUESTION 02 / 20</a:t>
            </a:r>
            <a:endParaRPr b="0" lang="en-US" sz="1300" spc="-1" strike="noStrike">
              <a:latin typeface="Arial"/>
            </a:endParaRPr>
          </a:p>
        </p:txBody>
      </p:sp>
      <p:sp>
        <p:nvSpPr>
          <p:cNvPr id="93" name="Rounded Rectangle 3"/>
          <p:cNvSpPr/>
          <p:nvPr/>
        </p:nvSpPr>
        <p:spPr>
          <a:xfrm>
            <a:off x="1295280" y="1645920"/>
            <a:ext cx="9600120" cy="3290760"/>
          </a:xfrm>
          <a:prstGeom prst="roundRect">
            <a:avLst>
              <a:gd name="adj" fmla="val 16667"/>
            </a:avLst>
          </a:prstGeom>
          <a:solidFill>
            <a:srgbClr val="1e293b"/>
          </a:solidFill>
          <a:ln w="19050">
            <a:solidFill>
              <a:srgbClr val="3341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buNone/>
            </a:pPr>
            <a:r>
              <a:rPr b="1" lang="en-US" sz="3000" spc="-1" strike="noStrike">
                <a:solidFill>
                  <a:srgbClr val="f8fafc"/>
                </a:solidFill>
                <a:latin typeface="Georgia"/>
                <a:ea typeface="DejaVu Sans"/>
              </a:rPr>
              <a:t>Based on Fidelity’s approach to Github CoPilot what would not be a preferred usage scenario?</a:t>
            </a:r>
            <a:endParaRPr b="0" lang="en-US" sz="30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94" name="TextBox 2"/>
          <p:cNvSpPr/>
          <p:nvPr/>
        </p:nvSpPr>
        <p:spPr>
          <a:xfrm>
            <a:off x="914400" y="731520"/>
            <a:ext cx="10361880" cy="2876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300" spc="-1" strike="noStrike">
                <a:solidFill>
                  <a:srgbClr val="fbbf24"/>
                </a:solidFill>
                <a:latin typeface="Verdana"/>
                <a:ea typeface="DejaVu Sans"/>
              </a:rPr>
              <a:t>PRACTICE QUESTION 03 / 20</a:t>
            </a:r>
            <a:endParaRPr b="0" lang="en-US" sz="1300" spc="-1" strike="noStrike">
              <a:latin typeface="Arial"/>
            </a:endParaRPr>
          </a:p>
        </p:txBody>
      </p:sp>
      <p:sp>
        <p:nvSpPr>
          <p:cNvPr id="95" name="Rounded Rectangle 3"/>
          <p:cNvSpPr/>
          <p:nvPr/>
        </p:nvSpPr>
        <p:spPr>
          <a:xfrm>
            <a:off x="1295280" y="1645920"/>
            <a:ext cx="9600120" cy="3290760"/>
          </a:xfrm>
          <a:prstGeom prst="roundRect">
            <a:avLst>
              <a:gd name="adj" fmla="val 16667"/>
            </a:avLst>
          </a:prstGeom>
          <a:solidFill>
            <a:srgbClr val="1e293b"/>
          </a:solidFill>
          <a:ln w="19050">
            <a:solidFill>
              <a:srgbClr val="3341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buNone/>
            </a:pPr>
            <a:r>
              <a:rPr b="1" lang="en-US" sz="3000" spc="-1" strike="noStrike">
                <a:solidFill>
                  <a:srgbClr val="f8fafc"/>
                </a:solidFill>
                <a:latin typeface="Georgia"/>
                <a:ea typeface="DejaVu Sans"/>
              </a:rPr>
              <a:t>True or False. Copilot is a good tool to use to help explain certain sections of docker or Jenkins files?</a:t>
            </a:r>
            <a:endParaRPr b="0" lang="en-US" sz="30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96" name="TextBox 2"/>
          <p:cNvSpPr/>
          <p:nvPr/>
        </p:nvSpPr>
        <p:spPr>
          <a:xfrm>
            <a:off x="914400" y="731520"/>
            <a:ext cx="10361880" cy="2876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300" spc="-1" strike="noStrike">
                <a:solidFill>
                  <a:srgbClr val="fbbf24"/>
                </a:solidFill>
                <a:latin typeface="Verdana"/>
                <a:ea typeface="DejaVu Sans"/>
              </a:rPr>
              <a:t>PRACTICE QUESTION 04 / 20</a:t>
            </a:r>
            <a:endParaRPr b="0" lang="en-US" sz="1300" spc="-1" strike="noStrike">
              <a:latin typeface="Arial"/>
            </a:endParaRPr>
          </a:p>
        </p:txBody>
      </p:sp>
      <p:sp>
        <p:nvSpPr>
          <p:cNvPr id="97" name="Rounded Rectangle 3"/>
          <p:cNvSpPr/>
          <p:nvPr/>
        </p:nvSpPr>
        <p:spPr>
          <a:xfrm>
            <a:off x="1295280" y="1645920"/>
            <a:ext cx="9600120" cy="3290760"/>
          </a:xfrm>
          <a:prstGeom prst="roundRect">
            <a:avLst>
              <a:gd name="adj" fmla="val 16667"/>
            </a:avLst>
          </a:prstGeom>
          <a:solidFill>
            <a:srgbClr val="1e293b"/>
          </a:solidFill>
          <a:ln w="19050">
            <a:solidFill>
              <a:srgbClr val="3341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buNone/>
            </a:pPr>
            <a:r>
              <a:rPr b="1" lang="en-US" sz="3000" spc="-1" strike="noStrike">
                <a:solidFill>
                  <a:srgbClr val="f8fafc"/>
                </a:solidFill>
                <a:latin typeface="Georgia"/>
                <a:ea typeface="DejaVu Sans"/>
              </a:rPr>
              <a:t> </a:t>
            </a:r>
            <a:r>
              <a:rPr b="1" lang="en-US" sz="3000" spc="-1" strike="noStrike">
                <a:solidFill>
                  <a:srgbClr val="f8fafc"/>
                </a:solidFill>
                <a:latin typeface="Georgia"/>
                <a:ea typeface="DejaVu Sans"/>
              </a:rPr>
              <a:t>True or False. A good usage of CoPilot is to have it generate all your unit and integration tests</a:t>
            </a:r>
            <a:r>
              <a:rPr b="1" lang="en-US" sz="3000" spc="-1" strike="noStrike">
                <a:solidFill>
                  <a:srgbClr val="f8fafc"/>
                </a:solidFill>
                <a:latin typeface="Georgia"/>
                <a:ea typeface="DejaVu Sans"/>
              </a:rPr>
              <a:t>?</a:t>
            </a:r>
            <a:endParaRPr b="0" lang="en-US" sz="30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98" name="TextBox 2"/>
          <p:cNvSpPr/>
          <p:nvPr/>
        </p:nvSpPr>
        <p:spPr>
          <a:xfrm>
            <a:off x="914400" y="731520"/>
            <a:ext cx="10361880" cy="2876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300" spc="-1" strike="noStrike">
                <a:solidFill>
                  <a:srgbClr val="fbbf24"/>
                </a:solidFill>
                <a:latin typeface="Verdana"/>
                <a:ea typeface="DejaVu Sans"/>
              </a:rPr>
              <a:t>PRACTICE QUESTION 05 / 20</a:t>
            </a:r>
            <a:endParaRPr b="0" lang="en-US" sz="1300" spc="-1" strike="noStrike">
              <a:latin typeface="Arial"/>
            </a:endParaRPr>
          </a:p>
        </p:txBody>
      </p:sp>
      <p:sp>
        <p:nvSpPr>
          <p:cNvPr id="99" name="Rounded Rectangle 3"/>
          <p:cNvSpPr/>
          <p:nvPr/>
        </p:nvSpPr>
        <p:spPr>
          <a:xfrm>
            <a:off x="1295280" y="1645920"/>
            <a:ext cx="9600120" cy="3290760"/>
          </a:xfrm>
          <a:prstGeom prst="roundRect">
            <a:avLst>
              <a:gd name="adj" fmla="val 16667"/>
            </a:avLst>
          </a:prstGeom>
          <a:solidFill>
            <a:srgbClr val="1e293b"/>
          </a:solidFill>
          <a:ln w="19050">
            <a:solidFill>
              <a:srgbClr val="3341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buNone/>
            </a:pPr>
            <a:r>
              <a:rPr b="1" lang="en-US" sz="3000" spc="-1" strike="noStrike">
                <a:solidFill>
                  <a:srgbClr val="f8fafc"/>
                </a:solidFill>
                <a:latin typeface="Georgia"/>
                <a:ea typeface="DejaVu Sans"/>
              </a:rPr>
              <a:t> </a:t>
            </a:r>
            <a:r>
              <a:rPr b="1" lang="en-US" sz="3000" spc="-1" strike="noStrike">
                <a:solidFill>
                  <a:srgbClr val="f8fafc"/>
                </a:solidFill>
                <a:latin typeface="Georgia"/>
                <a:ea typeface="DejaVu Sans"/>
              </a:rPr>
              <a:t>You ask CoPilot to explain a section of a docker file to you</a:t>
            </a:r>
            <a:r>
              <a:rPr b="1" lang="en-US" sz="3000" spc="-1" strike="noStrike">
                <a:solidFill>
                  <a:srgbClr val="f8fafc"/>
                </a:solidFill>
                <a:latin typeface="Georgia"/>
                <a:ea typeface="DejaVu Sans"/>
              </a:rPr>
              <a:t>? What would be your next step in terms of validating CoPilot’s response?</a:t>
            </a:r>
            <a:endParaRPr b="0" lang="en-US" sz="30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00" name="TextBox 2"/>
          <p:cNvSpPr/>
          <p:nvPr/>
        </p:nvSpPr>
        <p:spPr>
          <a:xfrm>
            <a:off x="914400" y="731520"/>
            <a:ext cx="10361880" cy="2876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300" spc="-1" strike="noStrike">
                <a:solidFill>
                  <a:srgbClr val="fbbf24"/>
                </a:solidFill>
                <a:latin typeface="Verdana"/>
                <a:ea typeface="DejaVu Sans"/>
              </a:rPr>
              <a:t>PRACTICE QUESTION 06 / 20</a:t>
            </a:r>
            <a:endParaRPr b="0" lang="en-US" sz="1300" spc="-1" strike="noStrike">
              <a:latin typeface="Arial"/>
            </a:endParaRPr>
          </a:p>
        </p:txBody>
      </p:sp>
      <p:sp>
        <p:nvSpPr>
          <p:cNvPr id="101" name="Rounded Rectangle 3"/>
          <p:cNvSpPr/>
          <p:nvPr/>
        </p:nvSpPr>
        <p:spPr>
          <a:xfrm>
            <a:off x="1295280" y="1645920"/>
            <a:ext cx="9600120" cy="3290760"/>
          </a:xfrm>
          <a:prstGeom prst="roundRect">
            <a:avLst>
              <a:gd name="adj" fmla="val 16667"/>
            </a:avLst>
          </a:prstGeom>
          <a:solidFill>
            <a:srgbClr val="1e293b"/>
          </a:solidFill>
          <a:ln w="19050">
            <a:solidFill>
              <a:srgbClr val="3341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buNone/>
            </a:pPr>
            <a:r>
              <a:rPr b="1" lang="en-US" sz="3000" spc="-1" strike="noStrike">
                <a:solidFill>
                  <a:srgbClr val="f8fafc"/>
                </a:solidFill>
                <a:latin typeface="Georgia"/>
                <a:ea typeface="DejaVu Sans"/>
              </a:rPr>
              <a:t>True or False. You ask CoPilot about a stage in your Jenkins file. Its okay to accept the response as CoPilot has been trained on Jenkins?</a:t>
            </a:r>
            <a:endParaRPr b="0" lang="en-US" sz="30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02" name="TextBox 2"/>
          <p:cNvSpPr/>
          <p:nvPr/>
        </p:nvSpPr>
        <p:spPr>
          <a:xfrm>
            <a:off x="914400" y="731520"/>
            <a:ext cx="10361880" cy="2876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300" spc="-1" strike="noStrike">
                <a:solidFill>
                  <a:srgbClr val="fbbf24"/>
                </a:solidFill>
                <a:latin typeface="Verdana"/>
                <a:ea typeface="DejaVu Sans"/>
              </a:rPr>
              <a:t>PRACTICE QUESTION 07 / 20</a:t>
            </a:r>
            <a:endParaRPr b="0" lang="en-US" sz="1300" spc="-1" strike="noStrike">
              <a:latin typeface="Arial"/>
            </a:endParaRPr>
          </a:p>
        </p:txBody>
      </p:sp>
      <p:sp>
        <p:nvSpPr>
          <p:cNvPr id="103" name="Rounded Rectangle 3"/>
          <p:cNvSpPr/>
          <p:nvPr/>
        </p:nvSpPr>
        <p:spPr>
          <a:xfrm>
            <a:off x="1295280" y="1645920"/>
            <a:ext cx="9600120" cy="3290760"/>
          </a:xfrm>
          <a:prstGeom prst="roundRect">
            <a:avLst>
              <a:gd name="adj" fmla="val 16667"/>
            </a:avLst>
          </a:prstGeom>
          <a:solidFill>
            <a:srgbClr val="1e293b"/>
          </a:solidFill>
          <a:ln w="19050">
            <a:solidFill>
              <a:srgbClr val="3341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buNone/>
            </a:pPr>
            <a:r>
              <a:rPr b="1" lang="en-US" sz="3000" spc="-1" strike="noStrike">
                <a:solidFill>
                  <a:srgbClr val="f8fafc"/>
                </a:solidFill>
                <a:latin typeface="Georgia"/>
                <a:ea typeface="DejaVu Sans"/>
              </a:rPr>
              <a:t>Your ready to make your first commit into your git respository and your project folder contains java class files in the target folder. Should these be included as part of the commit?</a:t>
            </a:r>
            <a:endParaRPr b="0" lang="en-US" sz="30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04" name="TextBox 2"/>
          <p:cNvSpPr/>
          <p:nvPr/>
        </p:nvSpPr>
        <p:spPr>
          <a:xfrm>
            <a:off x="914400" y="731520"/>
            <a:ext cx="10361880" cy="2876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300" spc="-1" strike="noStrike">
                <a:solidFill>
                  <a:srgbClr val="fbbf24"/>
                </a:solidFill>
                <a:latin typeface="Verdana"/>
                <a:ea typeface="DejaVu Sans"/>
              </a:rPr>
              <a:t>PRACTICE QUESTION 08 / 20</a:t>
            </a:r>
            <a:endParaRPr b="0" lang="en-US" sz="1300" spc="-1" strike="noStrike">
              <a:latin typeface="Arial"/>
            </a:endParaRPr>
          </a:p>
        </p:txBody>
      </p:sp>
      <p:sp>
        <p:nvSpPr>
          <p:cNvPr id="105" name="Rounded Rectangle 3"/>
          <p:cNvSpPr/>
          <p:nvPr/>
        </p:nvSpPr>
        <p:spPr>
          <a:xfrm>
            <a:off x="1295280" y="1645920"/>
            <a:ext cx="9600120" cy="3290760"/>
          </a:xfrm>
          <a:prstGeom prst="roundRect">
            <a:avLst>
              <a:gd name="adj" fmla="val 16667"/>
            </a:avLst>
          </a:prstGeom>
          <a:solidFill>
            <a:srgbClr val="1e293b"/>
          </a:solidFill>
          <a:ln w="19050">
            <a:solidFill>
              <a:srgbClr val="3341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buNone/>
            </a:pPr>
            <a:r>
              <a:rPr b="1" lang="en-US" sz="3000" spc="-1" strike="noStrike">
                <a:solidFill>
                  <a:srgbClr val="f8fafc"/>
                </a:solidFill>
                <a:latin typeface="Georgia"/>
                <a:ea typeface="DejaVu Sans"/>
              </a:rPr>
              <a:t>Your ready to make your first commit into your git respository and your project folder contains some security config files that have your test password and username used for JDBC connections. Should these be included as part of the commit??</a:t>
            </a:r>
            <a:endParaRPr b="0" lang="en-US" sz="30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06" name="TextBox 2"/>
          <p:cNvSpPr/>
          <p:nvPr/>
        </p:nvSpPr>
        <p:spPr>
          <a:xfrm>
            <a:off x="914400" y="731520"/>
            <a:ext cx="10361880" cy="2876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300" spc="-1" strike="noStrike">
                <a:solidFill>
                  <a:srgbClr val="fbbf24"/>
                </a:solidFill>
                <a:latin typeface="Verdana"/>
                <a:ea typeface="DejaVu Sans"/>
              </a:rPr>
              <a:t>PRACTICE QUESTION 09 / 20</a:t>
            </a:r>
            <a:endParaRPr b="0" lang="en-US" sz="1300" spc="-1" strike="noStrike">
              <a:latin typeface="Arial"/>
            </a:endParaRPr>
          </a:p>
        </p:txBody>
      </p:sp>
      <p:sp>
        <p:nvSpPr>
          <p:cNvPr id="107" name="Rounded Rectangle 3"/>
          <p:cNvSpPr/>
          <p:nvPr/>
        </p:nvSpPr>
        <p:spPr>
          <a:xfrm>
            <a:off x="1295280" y="1645920"/>
            <a:ext cx="9600120" cy="3290760"/>
          </a:xfrm>
          <a:prstGeom prst="roundRect">
            <a:avLst>
              <a:gd name="adj" fmla="val 16667"/>
            </a:avLst>
          </a:prstGeom>
          <a:solidFill>
            <a:srgbClr val="1e293b"/>
          </a:solidFill>
          <a:ln w="19050">
            <a:solidFill>
              <a:srgbClr val="3341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buNone/>
            </a:pPr>
            <a:r>
              <a:rPr b="1" lang="en-US" sz="3000" spc="-1" strike="noStrike">
                <a:solidFill>
                  <a:srgbClr val="f8fafc"/>
                </a:solidFill>
                <a:latin typeface="Georgia"/>
                <a:ea typeface="DejaVu Sans"/>
              </a:rPr>
              <a:t>Your code is building fine with Jenkins but some of the Junit test cases are failing. You comment out the test stage in your jenkinsfile to get a successful build. Is this a valid approach? </a:t>
            </a:r>
            <a:endParaRPr b="0" lang="en-US" sz="30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08" name="TextBox 2"/>
          <p:cNvSpPr/>
          <p:nvPr/>
        </p:nvSpPr>
        <p:spPr>
          <a:xfrm>
            <a:off x="914400" y="731520"/>
            <a:ext cx="10361880" cy="2876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300" spc="-1" strike="noStrike">
                <a:solidFill>
                  <a:srgbClr val="fbbf24"/>
                </a:solidFill>
                <a:latin typeface="Verdana"/>
                <a:ea typeface="DejaVu Sans"/>
              </a:rPr>
              <a:t>PRACTICE QUESTION 10 / 20</a:t>
            </a:r>
            <a:endParaRPr b="0" lang="en-US" sz="1300" spc="-1" strike="noStrike">
              <a:latin typeface="Arial"/>
            </a:endParaRPr>
          </a:p>
        </p:txBody>
      </p:sp>
      <p:sp>
        <p:nvSpPr>
          <p:cNvPr id="109" name="Rounded Rectangle 3"/>
          <p:cNvSpPr/>
          <p:nvPr/>
        </p:nvSpPr>
        <p:spPr>
          <a:xfrm>
            <a:off x="1295280" y="1645920"/>
            <a:ext cx="9600120" cy="3290760"/>
          </a:xfrm>
          <a:prstGeom prst="roundRect">
            <a:avLst>
              <a:gd name="adj" fmla="val 16667"/>
            </a:avLst>
          </a:prstGeom>
          <a:solidFill>
            <a:srgbClr val="1e293b"/>
          </a:solidFill>
          <a:ln w="19050">
            <a:solidFill>
              <a:srgbClr val="3341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buNone/>
            </a:pPr>
            <a:r>
              <a:rPr b="1" lang="en-US" sz="3000" spc="-1" strike="noStrike">
                <a:solidFill>
                  <a:srgbClr val="f8fafc"/>
                </a:solidFill>
                <a:latin typeface="Georgia"/>
                <a:ea typeface="DejaVu Sans"/>
              </a:rPr>
              <a:t>True or False. You should always commit your .gitignore alongside the first files it excludes</a:t>
            </a:r>
            <a:endParaRPr b="0" lang="en-US" sz="30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10" name="TextBox 2"/>
          <p:cNvSpPr/>
          <p:nvPr/>
        </p:nvSpPr>
        <p:spPr>
          <a:xfrm>
            <a:off x="914400" y="731520"/>
            <a:ext cx="10361880" cy="2876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300" spc="-1" strike="noStrike">
                <a:solidFill>
                  <a:srgbClr val="fbbf24"/>
                </a:solidFill>
                <a:latin typeface="Verdana"/>
                <a:ea typeface="DejaVu Sans"/>
              </a:rPr>
              <a:t>PRACTICE QUESTION 11 / 20</a:t>
            </a:r>
            <a:endParaRPr b="0" lang="en-US" sz="1300" spc="-1" strike="noStrike">
              <a:latin typeface="Arial"/>
            </a:endParaRPr>
          </a:p>
        </p:txBody>
      </p:sp>
      <p:sp>
        <p:nvSpPr>
          <p:cNvPr id="111" name="Rounded Rectangle 3"/>
          <p:cNvSpPr/>
          <p:nvPr/>
        </p:nvSpPr>
        <p:spPr>
          <a:xfrm>
            <a:off x="1295280" y="1645920"/>
            <a:ext cx="9600120" cy="3290760"/>
          </a:xfrm>
          <a:prstGeom prst="roundRect">
            <a:avLst>
              <a:gd name="adj" fmla="val 16667"/>
            </a:avLst>
          </a:prstGeom>
          <a:solidFill>
            <a:srgbClr val="1e293b"/>
          </a:solidFill>
          <a:ln w="19050">
            <a:solidFill>
              <a:srgbClr val="3341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r>
              <a:rPr b="1" lang="en-US" sz="3000" spc="-1" strike="noStrike">
                <a:solidFill>
                  <a:srgbClr val="f8fafc"/>
                </a:solidFill>
                <a:latin typeface="Georgia"/>
                <a:ea typeface="DejaVu Sans"/>
              </a:rPr>
              <a:t>Your senior team mate suggests checking in and commiting your .gitignore as a seperate commit to make the .gitignore change easy to find, review, or revert independently of unrelated feature work. Is this a good approach?</a:t>
            </a:r>
            <a:endParaRPr b="0" lang="en-US" sz="3000" spc="-1" strike="noStrike">
              <a:solidFill>
                <a:srgbClr val="262626"/>
              </a:solidFill>
              <a:latin typeface="HelveticaNeue"/>
              <a:ea typeface="HelveticaNeue"/>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12" name="TextBox 2"/>
          <p:cNvSpPr/>
          <p:nvPr/>
        </p:nvSpPr>
        <p:spPr>
          <a:xfrm>
            <a:off x="914400" y="731520"/>
            <a:ext cx="10361880" cy="2876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300" spc="-1" strike="noStrike">
                <a:solidFill>
                  <a:srgbClr val="fbbf24"/>
                </a:solidFill>
                <a:latin typeface="Verdana"/>
                <a:ea typeface="DejaVu Sans"/>
              </a:rPr>
              <a:t>PRACTICE QUESTION 12 / 20</a:t>
            </a:r>
            <a:endParaRPr b="0" lang="en-US" sz="1300" spc="-1" strike="noStrike">
              <a:latin typeface="Arial"/>
            </a:endParaRPr>
          </a:p>
        </p:txBody>
      </p:sp>
      <p:sp>
        <p:nvSpPr>
          <p:cNvPr id="113" name="Rounded Rectangle 3"/>
          <p:cNvSpPr/>
          <p:nvPr/>
        </p:nvSpPr>
        <p:spPr>
          <a:xfrm>
            <a:off x="1295280" y="1645920"/>
            <a:ext cx="9600120" cy="3290760"/>
          </a:xfrm>
          <a:prstGeom prst="roundRect">
            <a:avLst>
              <a:gd name="adj" fmla="val 16667"/>
            </a:avLst>
          </a:prstGeom>
          <a:solidFill>
            <a:srgbClr val="1e293b"/>
          </a:solidFill>
          <a:ln w="19050">
            <a:solidFill>
              <a:srgbClr val="3341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buNone/>
            </a:pPr>
            <a:r>
              <a:rPr b="1" lang="en-US" sz="3000" spc="-1" strike="noStrike">
                <a:solidFill>
                  <a:srgbClr val="f8fafc"/>
                </a:solidFill>
                <a:latin typeface="Georgia"/>
                <a:ea typeface="DejaVu Sans"/>
              </a:rPr>
              <a:t>True or False? Git limits the number of commits that can be made by any one developer over the course of the day?</a:t>
            </a:r>
            <a:endParaRPr b="0" lang="en-US" sz="30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14" name="TextBox 2"/>
          <p:cNvSpPr/>
          <p:nvPr/>
        </p:nvSpPr>
        <p:spPr>
          <a:xfrm>
            <a:off x="914400" y="731520"/>
            <a:ext cx="10361880" cy="2876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300" spc="-1" strike="noStrike">
                <a:solidFill>
                  <a:srgbClr val="fbbf24"/>
                </a:solidFill>
                <a:latin typeface="Verdana"/>
                <a:ea typeface="DejaVu Sans"/>
              </a:rPr>
              <a:t>PRACTICE QUESTION 13 / 20</a:t>
            </a:r>
            <a:endParaRPr b="0" lang="en-US" sz="1300" spc="-1" strike="noStrike">
              <a:latin typeface="Arial"/>
            </a:endParaRPr>
          </a:p>
        </p:txBody>
      </p:sp>
      <p:sp>
        <p:nvSpPr>
          <p:cNvPr id="115" name="Rounded Rectangle 3"/>
          <p:cNvSpPr/>
          <p:nvPr/>
        </p:nvSpPr>
        <p:spPr>
          <a:xfrm>
            <a:off x="1295280" y="1645920"/>
            <a:ext cx="9600120" cy="3290760"/>
          </a:xfrm>
          <a:prstGeom prst="roundRect">
            <a:avLst>
              <a:gd name="adj" fmla="val 16667"/>
            </a:avLst>
          </a:prstGeom>
          <a:solidFill>
            <a:srgbClr val="1e293b"/>
          </a:solidFill>
          <a:ln w="19050">
            <a:solidFill>
              <a:srgbClr val="3341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buNone/>
            </a:pPr>
            <a:r>
              <a:rPr b="1" lang="en-US" sz="3000" spc="-1" strike="noStrike">
                <a:solidFill>
                  <a:srgbClr val="f8fafc"/>
                </a:solidFill>
                <a:latin typeface="Georgia"/>
                <a:ea typeface="DejaVu Sans"/>
              </a:rPr>
              <a:t>You make a quick feature branch, apply a few code changes and commit those changes. You switch to main and merge your changes. When you look at the git log to confirm your changes, you only see one line of changes on main. Does this mean something went wrong?</a:t>
            </a:r>
            <a:endParaRPr b="0" lang="en-US" sz="30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16" name="TextBox 2"/>
          <p:cNvSpPr/>
          <p:nvPr/>
        </p:nvSpPr>
        <p:spPr>
          <a:xfrm>
            <a:off x="914400" y="731520"/>
            <a:ext cx="10361880" cy="2876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300" spc="-1" strike="noStrike">
                <a:solidFill>
                  <a:srgbClr val="fbbf24"/>
                </a:solidFill>
                <a:latin typeface="Verdana"/>
                <a:ea typeface="DejaVu Sans"/>
              </a:rPr>
              <a:t>PRACTICE QUESTION 14 / 20</a:t>
            </a:r>
            <a:endParaRPr b="0" lang="en-US" sz="1300" spc="-1" strike="noStrike">
              <a:latin typeface="Arial"/>
            </a:endParaRPr>
          </a:p>
        </p:txBody>
      </p:sp>
      <p:sp>
        <p:nvSpPr>
          <p:cNvPr id="117" name="Rounded Rectangle 3"/>
          <p:cNvSpPr/>
          <p:nvPr/>
        </p:nvSpPr>
        <p:spPr>
          <a:xfrm>
            <a:off x="1295280" y="1645920"/>
            <a:ext cx="9600120" cy="3290760"/>
          </a:xfrm>
          <a:prstGeom prst="roundRect">
            <a:avLst>
              <a:gd name="adj" fmla="val 16667"/>
            </a:avLst>
          </a:prstGeom>
          <a:solidFill>
            <a:srgbClr val="1e293b"/>
          </a:solidFill>
          <a:ln w="19050">
            <a:solidFill>
              <a:srgbClr val="3341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buNone/>
            </a:pPr>
            <a:r>
              <a:rPr b="1" lang="en-US" sz="3000" spc="-1" strike="noStrike">
                <a:solidFill>
                  <a:srgbClr val="f8fafc"/>
                </a:solidFill>
                <a:latin typeface="Georgia"/>
                <a:ea typeface="DejaVu Sans"/>
              </a:rPr>
              <a:t>Your and your team mate working on different branches change the same config file and conflicts arise when you try to merge? Should you apply your changes and notify your team mate later about the modification?</a:t>
            </a:r>
            <a:endParaRPr b="0" lang="en-US" sz="30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18" name="TextBox 2"/>
          <p:cNvSpPr/>
          <p:nvPr/>
        </p:nvSpPr>
        <p:spPr>
          <a:xfrm>
            <a:off x="914400" y="731520"/>
            <a:ext cx="10361880" cy="2876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300" spc="-1" strike="noStrike">
                <a:solidFill>
                  <a:srgbClr val="fbbf24"/>
                </a:solidFill>
                <a:latin typeface="Verdana"/>
                <a:ea typeface="DejaVu Sans"/>
              </a:rPr>
              <a:t>PRACTICE QUESTION 15 / 20</a:t>
            </a:r>
            <a:endParaRPr b="0" lang="en-US" sz="1300" spc="-1" strike="noStrike">
              <a:latin typeface="Arial"/>
            </a:endParaRPr>
          </a:p>
        </p:txBody>
      </p:sp>
      <p:sp>
        <p:nvSpPr>
          <p:cNvPr id="119" name="Rounded Rectangle 3"/>
          <p:cNvSpPr/>
          <p:nvPr/>
        </p:nvSpPr>
        <p:spPr>
          <a:xfrm>
            <a:off x="1295280" y="1645920"/>
            <a:ext cx="9600120" cy="3290760"/>
          </a:xfrm>
          <a:prstGeom prst="roundRect">
            <a:avLst>
              <a:gd name="adj" fmla="val 16667"/>
            </a:avLst>
          </a:prstGeom>
          <a:solidFill>
            <a:srgbClr val="1e293b"/>
          </a:solidFill>
          <a:ln w="19050">
            <a:solidFill>
              <a:srgbClr val="3341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buNone/>
            </a:pPr>
            <a:r>
              <a:rPr b="1" lang="en-US" sz="3000" spc="-1" strike="noStrike">
                <a:solidFill>
                  <a:srgbClr val="f8fafc"/>
                </a:solidFill>
                <a:latin typeface="Georgia"/>
                <a:ea typeface="DejaVu Sans"/>
              </a:rPr>
              <a:t>Your fast agile team of six developers has been assigned a number of features to develop for a new application. You PM says its shouldn’t take more then a few months. What branch strategy would best apply here?</a:t>
            </a:r>
            <a:endParaRPr b="0" lang="en-US" sz="30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20" name="TextBox 2"/>
          <p:cNvSpPr/>
          <p:nvPr/>
        </p:nvSpPr>
        <p:spPr>
          <a:xfrm>
            <a:off x="914400" y="731520"/>
            <a:ext cx="10361880" cy="2876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300" spc="-1" strike="noStrike">
                <a:solidFill>
                  <a:srgbClr val="fbbf24"/>
                </a:solidFill>
                <a:latin typeface="Verdana"/>
                <a:ea typeface="DejaVu Sans"/>
              </a:rPr>
              <a:t>PRACTICE QUESTION 16 / 20</a:t>
            </a:r>
            <a:endParaRPr b="0" lang="en-US" sz="1300" spc="-1" strike="noStrike">
              <a:latin typeface="Arial"/>
            </a:endParaRPr>
          </a:p>
        </p:txBody>
      </p:sp>
      <p:sp>
        <p:nvSpPr>
          <p:cNvPr id="121" name="Rounded Rectangle 3"/>
          <p:cNvSpPr/>
          <p:nvPr/>
        </p:nvSpPr>
        <p:spPr>
          <a:xfrm>
            <a:off x="1295280" y="1645920"/>
            <a:ext cx="9600120" cy="3290760"/>
          </a:xfrm>
          <a:prstGeom prst="roundRect">
            <a:avLst>
              <a:gd name="adj" fmla="val 16667"/>
            </a:avLst>
          </a:prstGeom>
          <a:solidFill>
            <a:srgbClr val="1e293b"/>
          </a:solidFill>
          <a:ln w="19050">
            <a:solidFill>
              <a:srgbClr val="3341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buNone/>
            </a:pPr>
            <a:r>
              <a:rPr b="1" lang="en-US" sz="3000" spc="-1" strike="noStrike">
                <a:solidFill>
                  <a:srgbClr val="f8fafc"/>
                </a:solidFill>
                <a:latin typeface="Georgia"/>
                <a:ea typeface="DejaVu Sans"/>
              </a:rPr>
              <a:t>The continuous deployment phase of your Jenkins pipeline is setup to archive the respective artifacts that were built. Does it always need to include the deloyment of those artifacts?</a:t>
            </a:r>
            <a:endParaRPr b="0" lang="en-US" sz="30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22" name="TextBox 2"/>
          <p:cNvSpPr/>
          <p:nvPr/>
        </p:nvSpPr>
        <p:spPr>
          <a:xfrm>
            <a:off x="914400" y="731520"/>
            <a:ext cx="10361880" cy="2876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300" spc="-1" strike="noStrike">
                <a:solidFill>
                  <a:srgbClr val="fbbf24"/>
                </a:solidFill>
                <a:latin typeface="Verdana"/>
                <a:ea typeface="DejaVu Sans"/>
              </a:rPr>
              <a:t>PRACTICE QUESTION 17 / 20</a:t>
            </a:r>
            <a:endParaRPr b="0" lang="en-US" sz="1300" spc="-1" strike="noStrike">
              <a:latin typeface="Arial"/>
            </a:endParaRPr>
          </a:p>
        </p:txBody>
      </p:sp>
      <p:sp>
        <p:nvSpPr>
          <p:cNvPr id="123" name="Rounded Rectangle 3"/>
          <p:cNvSpPr/>
          <p:nvPr/>
        </p:nvSpPr>
        <p:spPr>
          <a:xfrm>
            <a:off x="1295280" y="1645920"/>
            <a:ext cx="9600120" cy="3290760"/>
          </a:xfrm>
          <a:prstGeom prst="roundRect">
            <a:avLst>
              <a:gd name="adj" fmla="val 16667"/>
            </a:avLst>
          </a:prstGeom>
          <a:solidFill>
            <a:srgbClr val="1e293b"/>
          </a:solidFill>
          <a:ln w="19050">
            <a:solidFill>
              <a:srgbClr val="3341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buNone/>
            </a:pPr>
            <a:r>
              <a:rPr b="1" lang="en-US" sz="3000" spc="-1" strike="noStrike">
                <a:solidFill>
                  <a:srgbClr val="f8fafc"/>
                </a:solidFill>
                <a:latin typeface="Georgia"/>
                <a:ea typeface="DejaVu Sans"/>
              </a:rPr>
              <a:t>When you run your Jenkins pipeline your build phase fails. In some cases will your test and archive stages still work and allow you to at least deploy something?</a:t>
            </a:r>
            <a:endParaRPr b="0" lang="en-US" sz="30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24" name="TextBox 2"/>
          <p:cNvSpPr/>
          <p:nvPr/>
        </p:nvSpPr>
        <p:spPr>
          <a:xfrm>
            <a:off x="914400" y="731520"/>
            <a:ext cx="10361880" cy="2876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300" spc="-1" strike="noStrike">
                <a:solidFill>
                  <a:srgbClr val="fbbf24"/>
                </a:solidFill>
                <a:latin typeface="Verdana"/>
                <a:ea typeface="DejaVu Sans"/>
              </a:rPr>
              <a:t>PRACTICE QUESTION 18 / 20</a:t>
            </a:r>
            <a:endParaRPr b="0" lang="en-US" sz="1300" spc="-1" strike="noStrike">
              <a:latin typeface="Arial"/>
            </a:endParaRPr>
          </a:p>
        </p:txBody>
      </p:sp>
      <p:sp>
        <p:nvSpPr>
          <p:cNvPr id="125" name="Rounded Rectangle 3"/>
          <p:cNvSpPr/>
          <p:nvPr/>
        </p:nvSpPr>
        <p:spPr>
          <a:xfrm>
            <a:off x="1600200" y="1645920"/>
            <a:ext cx="9600120" cy="3290760"/>
          </a:xfrm>
          <a:prstGeom prst="roundRect">
            <a:avLst>
              <a:gd name="adj" fmla="val 16667"/>
            </a:avLst>
          </a:prstGeom>
          <a:solidFill>
            <a:srgbClr val="1e293b"/>
          </a:solidFill>
          <a:ln w="19050">
            <a:solidFill>
              <a:srgbClr val="3341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buNone/>
            </a:pPr>
            <a:r>
              <a:rPr b="1" lang="en-US" sz="3000" spc="-1" strike="noStrike">
                <a:solidFill>
                  <a:srgbClr val="f8fafc"/>
                </a:solidFill>
                <a:latin typeface="Georgia"/>
                <a:ea typeface="DejaVu Sans"/>
              </a:rPr>
              <a:t>Your build in jenkins is failing. What maven command can you run locally to see if you get the same error?</a:t>
            </a:r>
            <a:endParaRPr b="0" lang="en-US" sz="30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26" name="TextBox 2"/>
          <p:cNvSpPr/>
          <p:nvPr/>
        </p:nvSpPr>
        <p:spPr>
          <a:xfrm>
            <a:off x="914400" y="731520"/>
            <a:ext cx="10361880" cy="2876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300" spc="-1" strike="noStrike">
                <a:solidFill>
                  <a:srgbClr val="fbbf24"/>
                </a:solidFill>
                <a:latin typeface="Verdana"/>
                <a:ea typeface="DejaVu Sans"/>
              </a:rPr>
              <a:t>PRACTICE QUESTION 19 / 20</a:t>
            </a:r>
            <a:endParaRPr b="0" lang="en-US" sz="1300" spc="-1" strike="noStrike">
              <a:latin typeface="Arial"/>
            </a:endParaRPr>
          </a:p>
        </p:txBody>
      </p:sp>
      <p:sp>
        <p:nvSpPr>
          <p:cNvPr id="127" name="Rounded Rectangle 3"/>
          <p:cNvSpPr/>
          <p:nvPr/>
        </p:nvSpPr>
        <p:spPr>
          <a:xfrm>
            <a:off x="1295280" y="1645920"/>
            <a:ext cx="9600120" cy="3290760"/>
          </a:xfrm>
          <a:prstGeom prst="roundRect">
            <a:avLst>
              <a:gd name="adj" fmla="val 16667"/>
            </a:avLst>
          </a:prstGeom>
          <a:solidFill>
            <a:srgbClr val="1e293b"/>
          </a:solidFill>
          <a:ln w="19050">
            <a:solidFill>
              <a:srgbClr val="3341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buNone/>
            </a:pPr>
            <a:r>
              <a:rPr b="1" lang="en-US" sz="3000" spc="-1" strike="noStrike">
                <a:solidFill>
                  <a:srgbClr val="f8fafc"/>
                </a:solidFill>
                <a:latin typeface="Georgia"/>
                <a:ea typeface="DejaVu Sans"/>
              </a:rPr>
              <a:t>True of False. It is best practice to have each developer just have his/her own branch and just keep using these branches to merge code into main for each developer.</a:t>
            </a:r>
            <a:endParaRPr b="0" lang="en-US" sz="3000" spc="-1" strike="noStrike">
              <a:latin typeface="Arial"/>
            </a:endParaRPr>
          </a:p>
        </p:txBody>
      </p:sp>
      <p:sp>
        <p:nvSpPr>
          <p:cNvPr id="128" name="TextBox 4"/>
          <p:cNvSpPr/>
          <p:nvPr/>
        </p:nvSpPr>
        <p:spPr>
          <a:xfrm>
            <a:off x="3031560" y="5486400"/>
            <a:ext cx="6127920" cy="25704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1100" spc="-1" strike="noStrike">
                <a:solidFill>
                  <a:srgbClr val="94a3b8"/>
                </a:solidFill>
                <a:latin typeface="Verdana"/>
                <a:ea typeface="DejaVu Sans"/>
              </a:rPr>
              <a:t>Reveal your notes panel in PowerPoint or Google Slides to check the correct answer.</a:t>
            </a:r>
            <a:endParaRPr b="0" lang="en-US" sz="11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29" name="TextBox 2"/>
          <p:cNvSpPr/>
          <p:nvPr/>
        </p:nvSpPr>
        <p:spPr>
          <a:xfrm>
            <a:off x="914400" y="731520"/>
            <a:ext cx="10361880" cy="2876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300" spc="-1" strike="noStrike">
                <a:solidFill>
                  <a:srgbClr val="fbbf24"/>
                </a:solidFill>
                <a:latin typeface="Verdana"/>
                <a:ea typeface="DejaVu Sans"/>
              </a:rPr>
              <a:t>PRACTICE QUESTION 20 / 20</a:t>
            </a:r>
            <a:endParaRPr b="0" lang="en-US" sz="1300" spc="-1" strike="noStrike">
              <a:latin typeface="Arial"/>
            </a:endParaRPr>
          </a:p>
        </p:txBody>
      </p:sp>
      <p:sp>
        <p:nvSpPr>
          <p:cNvPr id="130" name="Rounded Rectangle 3"/>
          <p:cNvSpPr/>
          <p:nvPr/>
        </p:nvSpPr>
        <p:spPr>
          <a:xfrm>
            <a:off x="1295280" y="1645920"/>
            <a:ext cx="9600120" cy="3290760"/>
          </a:xfrm>
          <a:prstGeom prst="roundRect">
            <a:avLst>
              <a:gd name="adj" fmla="val 16667"/>
            </a:avLst>
          </a:prstGeom>
          <a:solidFill>
            <a:srgbClr val="1e293b"/>
          </a:solidFill>
          <a:ln w="19050">
            <a:solidFill>
              <a:srgbClr val="3341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buNone/>
            </a:pPr>
            <a:r>
              <a:rPr b="1" lang="en-US" sz="3000" spc="-1" strike="noStrike">
                <a:solidFill>
                  <a:srgbClr val="f8fafc"/>
                </a:solidFill>
                <a:latin typeface="Georgia"/>
                <a:ea typeface="DejaVu Sans"/>
              </a:rPr>
              <a:t>True of False. It is best practice to change your team mate’s code in an emergency when a production outage is occuring in order to get a fix out the door.</a:t>
            </a:r>
            <a:endParaRPr b="0" lang="en-US" sz="3000" spc="-1" strike="noStrike">
              <a:latin typeface="Arial"/>
            </a:endParaRPr>
          </a:p>
        </p:txBody>
      </p:sp>
      <p:sp>
        <p:nvSpPr>
          <p:cNvPr id="131" name="TextBox 4"/>
          <p:cNvSpPr/>
          <p:nvPr/>
        </p:nvSpPr>
        <p:spPr>
          <a:xfrm>
            <a:off x="3031200" y="5486400"/>
            <a:ext cx="6127920" cy="25704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1100" spc="-1" strike="noStrike">
                <a:solidFill>
                  <a:srgbClr val="94a3b8"/>
                </a:solidFill>
                <a:latin typeface="Verdana"/>
                <a:ea typeface="DejaVu Sans"/>
              </a:rPr>
              <a:t>Reveal your notes panel in PowerPoint or Google Slides to check the correct answer.</a:t>
            </a:r>
            <a:endParaRPr b="0" lang="en-US" sz="11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22</TotalTime>
  <Application>PPTXPresentationEditor/1.2.0.0$MacOSX_X86_64 LibreOffice_project/e114eadc50a9ff8d8c8a0567d6da8f454beeb84f</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2026-08-18T20:13:01Z</dcterms:modified>
  <cp:revision>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